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0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2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6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6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0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0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0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5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5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9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904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7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907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14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91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17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91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0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20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92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2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22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922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577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578" name="Shape 2"/>
          <p:cNvSpPr/>
          <p:nvPr/>
        </p:nvSpPr>
        <p:spPr>
          <a:xfrm>
            <a:off x="0" y="109728"/>
            <a:ext cx="182880" cy="492404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579" name="Shape 3"/>
          <p:cNvSpPr/>
          <p:nvPr/>
        </p:nvSpPr>
        <p:spPr>
          <a:xfrm>
            <a:off x="6675120" y="-640080"/>
            <a:ext cx="3657600" cy="3657600"/>
          </a:xfrm>
          <a:prstGeom prst="ellipse">
            <a:avLst/>
          </a:prstGeom>
          <a:solidFill>
            <a:srgbClr val="1A2E6B">
              <a:alpha val="55000"/>
            </a:srgbClr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580" name="Shape 4"/>
          <p:cNvSpPr/>
          <p:nvPr/>
        </p:nvSpPr>
        <p:spPr>
          <a:xfrm>
            <a:off x="7406640" y="2743200"/>
            <a:ext cx="2377440" cy="2377440"/>
          </a:xfrm>
          <a:prstGeom prst="ellipse">
            <a:avLst/>
          </a:prstGeom>
          <a:solidFill>
            <a:srgbClr val="D4A017">
              <a:alpha val="22000"/>
            </a:srgbClr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581" name="Shape 5"/>
          <p:cNvSpPr/>
          <p:nvPr/>
        </p:nvSpPr>
        <p:spPr>
          <a:xfrm>
            <a:off x="-548640" y="3291840"/>
            <a:ext cx="2011680" cy="2011680"/>
          </a:xfrm>
          <a:prstGeom prst="ellipse">
            <a:avLst/>
          </a:prstGeom>
          <a:solidFill>
            <a:srgbClr val="D4A017">
              <a:alpha val="18000"/>
            </a:srgbClr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582" name="Text 6"/>
          <p:cNvSpPr/>
          <p:nvPr/>
        </p:nvSpPr>
        <p:spPr>
          <a:xfrm>
            <a:off x="457200" y="502920"/>
            <a:ext cx="80467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</a:t>
            </a:r>
            <a:endParaRPr lang="en-US" sz="4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600" dirty="0"/>
          </a:p>
        </p:txBody>
      </p:sp>
      <p:sp>
        <p:nvSpPr>
          <p:cNvPr id="1048583" name="Shape 7"/>
          <p:cNvSpPr/>
          <p:nvPr/>
        </p:nvSpPr>
        <p:spPr>
          <a:xfrm>
            <a:off x="1828800" y="2377440"/>
            <a:ext cx="54864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584" name="Text 8"/>
          <p:cNvSpPr/>
          <p:nvPr/>
        </p:nvSpPr>
        <p:spPr>
          <a:xfrm>
            <a:off x="457200" y="2487168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Research Project  —  Review II</a:t>
            </a:r>
            <a:endParaRPr lang="en-US" sz="1500" dirty="0"/>
          </a:p>
        </p:txBody>
      </p:sp>
      <p:sp>
        <p:nvSpPr>
          <p:cNvPr id="1048585" name="Shape 9"/>
          <p:cNvSpPr/>
          <p:nvPr/>
        </p:nvSpPr>
        <p:spPr>
          <a:xfrm>
            <a:off x="502920" y="2971800"/>
            <a:ext cx="8138160" cy="1691640"/>
          </a:xfrm>
          <a:prstGeom prst="rect">
            <a:avLst/>
          </a:prstGeom>
          <a:solidFill>
            <a:srgbClr val="122150"/>
          </a:solidFill>
          <a:ln w="19050">
            <a:solidFill>
              <a:srgbClr val="D4A017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586" name="Shape 10"/>
          <p:cNvSpPr/>
          <p:nvPr/>
        </p:nvSpPr>
        <p:spPr>
          <a:xfrm>
            <a:off x="502920" y="2971800"/>
            <a:ext cx="8138160" cy="347472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587" name="Text 11"/>
          <p:cNvSpPr/>
          <p:nvPr/>
        </p:nvSpPr>
        <p:spPr>
          <a:xfrm>
            <a:off x="640080" y="2999232"/>
            <a:ext cx="7863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048588" name="Shape 12"/>
          <p:cNvSpPr/>
          <p:nvPr/>
        </p:nvSpPr>
        <p:spPr>
          <a:xfrm>
            <a:off x="731520" y="3401568"/>
            <a:ext cx="2468880" cy="1097280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589" name="Shape 13"/>
          <p:cNvSpPr/>
          <p:nvPr/>
        </p:nvSpPr>
        <p:spPr>
          <a:xfrm>
            <a:off x="731520" y="3401568"/>
            <a:ext cx="246888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590" name="Text 14"/>
          <p:cNvSpPr/>
          <p:nvPr/>
        </p:nvSpPr>
        <p:spPr>
          <a:xfrm>
            <a:off x="822960" y="3474720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VAISHNAVI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247R1A05T9</a:t>
            </a:r>
            <a:endParaRPr lang="en-US" sz="1200" dirty="0"/>
          </a:p>
        </p:txBody>
      </p:sp>
      <p:sp>
        <p:nvSpPr>
          <p:cNvPr id="1048591" name="Shape 15"/>
          <p:cNvSpPr/>
          <p:nvPr/>
        </p:nvSpPr>
        <p:spPr>
          <a:xfrm>
            <a:off x="3438144" y="3401568"/>
            <a:ext cx="2468880" cy="1097280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592" name="Shape 16"/>
          <p:cNvSpPr/>
          <p:nvPr/>
        </p:nvSpPr>
        <p:spPr>
          <a:xfrm>
            <a:off x="3438144" y="3401568"/>
            <a:ext cx="246888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593" name="Text 17"/>
          <p:cNvSpPr/>
          <p:nvPr/>
        </p:nvSpPr>
        <p:spPr>
          <a:xfrm>
            <a:off x="3529584" y="3474720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RAAJITHA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247R1A05X8</a:t>
            </a:r>
            <a:endParaRPr lang="en-US" sz="1200" dirty="0"/>
          </a:p>
        </p:txBody>
      </p:sp>
      <p:sp>
        <p:nvSpPr>
          <p:cNvPr id="1048594" name="Shape 18"/>
          <p:cNvSpPr/>
          <p:nvPr/>
        </p:nvSpPr>
        <p:spPr>
          <a:xfrm>
            <a:off x="6144768" y="3401568"/>
            <a:ext cx="2468880" cy="1097280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595" name="Shape 19"/>
          <p:cNvSpPr/>
          <p:nvPr/>
        </p:nvSpPr>
        <p:spPr>
          <a:xfrm>
            <a:off x="6144768" y="3401568"/>
            <a:ext cx="246888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596" name="Text 20"/>
          <p:cNvSpPr/>
          <p:nvPr/>
        </p:nvSpPr>
        <p:spPr>
          <a:xfrm>
            <a:off x="6236208" y="3474720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HEMANTH REDDY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247R1A05X5</a:t>
            </a:r>
            <a:endParaRPr lang="en-US" sz="1200" dirty="0"/>
          </a:p>
        </p:txBody>
      </p:sp>
      <p:sp>
        <p:nvSpPr>
          <p:cNvPr id="1048597" name="FooterText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02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03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04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— Introduction &amp; Overview of the Project</a:t>
            </a:r>
            <a:endParaRPr lang="en-US" sz="2600" dirty="0"/>
          </a:p>
        </p:txBody>
      </p:sp>
      <p:sp>
        <p:nvSpPr>
          <p:cNvPr id="1048605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06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07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8608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048609" name="Shape 8"/>
          <p:cNvSpPr/>
          <p:nvPr/>
        </p:nvSpPr>
        <p:spPr>
          <a:xfrm>
            <a:off x="256032" y="987552"/>
            <a:ext cx="8631936" cy="3840480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610" name="Shape 9"/>
          <p:cNvSpPr/>
          <p:nvPr/>
        </p:nvSpPr>
        <p:spPr>
          <a:xfrm>
            <a:off x="256032" y="987552"/>
            <a:ext cx="8631936" cy="347472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11" name="Text 10"/>
          <p:cNvSpPr/>
          <p:nvPr/>
        </p:nvSpPr>
        <p:spPr>
          <a:xfrm>
            <a:off x="502920" y="105156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Task Scheduler System?</a:t>
            </a:r>
            <a:endParaRPr lang="en-US" sz="1500" dirty="0"/>
          </a:p>
        </p:txBody>
      </p:sp>
      <p:sp>
        <p:nvSpPr>
          <p:cNvPr id="1048612" name="Text 11"/>
          <p:cNvSpPr/>
          <p:nvPr/>
        </p:nvSpPr>
        <p:spPr>
          <a:xfrm>
            <a:off x="438912" y="1463040"/>
            <a:ext cx="8302752" cy="3246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Scheduler System helps users manage tasks easily. It works for personal, academic, and work settings.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set priorities, schedule tasks, and track progress. Reminders and notifications help meet deadlines on time.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repeating tasks and connects with calendars. This gives users a clear view of all their work in one place.</a:t>
            </a:r>
            <a:endParaRPr lang="en-US" sz="1200" dirty="0"/>
          </a:p>
        </p:txBody>
      </p:sp>
      <p:sp>
        <p:nvSpPr>
          <p:cNvPr id="1048613" name="Shape 12"/>
          <p:cNvSpPr/>
          <p:nvPr/>
        </p:nvSpPr>
        <p:spPr>
          <a:xfrm>
            <a:off x="502920" y="4160520"/>
            <a:ext cx="1920240" cy="548640"/>
          </a:xfrm>
          <a:prstGeom prst="rect">
            <a:avLst/>
          </a:prstGeom>
          <a:solidFill>
            <a:srgbClr val="0A1028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14" name="Text 13"/>
          <p:cNvSpPr/>
          <p:nvPr/>
        </p:nvSpPr>
        <p:spPr>
          <a:xfrm>
            <a:off x="548640" y="4178808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800" dirty="0"/>
          </a:p>
        </p:txBody>
      </p:sp>
      <p:sp>
        <p:nvSpPr>
          <p:cNvPr id="1048615" name="Shape 14"/>
          <p:cNvSpPr/>
          <p:nvPr/>
        </p:nvSpPr>
        <p:spPr>
          <a:xfrm>
            <a:off x="2651760" y="4160520"/>
            <a:ext cx="1920240" cy="548640"/>
          </a:xfrm>
          <a:prstGeom prst="rect">
            <a:avLst/>
          </a:prstGeom>
          <a:solidFill>
            <a:srgbClr val="0A1028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16" name="Text 15"/>
          <p:cNvSpPr/>
          <p:nvPr/>
        </p:nvSpPr>
        <p:spPr>
          <a:xfrm>
            <a:off x="2697480" y="4178808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800" dirty="0"/>
          </a:p>
        </p:txBody>
      </p:sp>
      <p:sp>
        <p:nvSpPr>
          <p:cNvPr id="1048617" name="Shape 16"/>
          <p:cNvSpPr/>
          <p:nvPr/>
        </p:nvSpPr>
        <p:spPr>
          <a:xfrm>
            <a:off x="4800600" y="4160520"/>
            <a:ext cx="1920240" cy="548640"/>
          </a:xfrm>
          <a:prstGeom prst="rect">
            <a:avLst/>
          </a:prstGeom>
          <a:solidFill>
            <a:srgbClr val="0A1028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18" name="Text 17"/>
          <p:cNvSpPr/>
          <p:nvPr/>
        </p:nvSpPr>
        <p:spPr>
          <a:xfrm>
            <a:off x="4846320" y="4178808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1048619" name="Shape 18"/>
          <p:cNvSpPr/>
          <p:nvPr/>
        </p:nvSpPr>
        <p:spPr>
          <a:xfrm>
            <a:off x="6949440" y="4160520"/>
            <a:ext cx="1920240" cy="548640"/>
          </a:xfrm>
          <a:prstGeom prst="rect">
            <a:avLst/>
          </a:prstGeom>
          <a:solidFill>
            <a:srgbClr val="0A1028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 19"/>
          <p:cNvSpPr/>
          <p:nvPr/>
        </p:nvSpPr>
        <p:spPr>
          <a:xfrm>
            <a:off x="6995160" y="4178808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25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26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27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600" dirty="0"/>
          </a:p>
        </p:txBody>
      </p:sp>
      <p:sp>
        <p:nvSpPr>
          <p:cNvPr id="1048628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29" name="Shape 5"/>
          <p:cNvSpPr/>
          <p:nvPr/>
        </p:nvSpPr>
        <p:spPr>
          <a:xfrm>
            <a:off x="256032" y="4789932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30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8631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048632" name="Shape 9"/>
          <p:cNvSpPr/>
          <p:nvPr/>
        </p:nvSpPr>
        <p:spPr>
          <a:xfrm>
            <a:off x="256032" y="987552"/>
            <a:ext cx="8631936" cy="347472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33" name="Text 10"/>
          <p:cNvSpPr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1048634" name="Text 11"/>
          <p:cNvSpPr/>
          <p:nvPr/>
        </p:nvSpPr>
        <p:spPr>
          <a:xfrm>
            <a:off x="411480" y="1499616"/>
            <a:ext cx="8023860" cy="32628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task management systems vary widely in functionality, ranging from simple to complex applications. Most tools only offer to-do lists and basic reminders. They are not enough for complex needs.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apps let users write tasks but lack smart scheduling and tool integrations.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8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8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700"/>
              </a:spcAft>
              <a:buSzPct val="100000"/>
            </a:pPr>
            <a:r>
              <a:rPr lang="en-US" sz="1200" dirty="0">
                <a:solidFill>
                  <a:srgbClr val="FFFFFF"/>
                </a:solidFill>
              </a:rPr>
              <a:t>No dynamic adaptation to changing workloads; users must manually determine task priority and reschedule.</a:t>
            </a:r>
          </a:p>
          <a:p>
            <a:pPr>
              <a:spcAft>
                <a:spcPts val="700"/>
              </a:spcAft>
              <a:buSzPct val="100000"/>
            </a:pPr>
            <a:r>
              <a:rPr lang="en-US" sz="1200" dirty="0">
                <a:solidFill>
                  <a:srgbClr val="FFFFFF"/>
                </a:solidFill>
              </a:rPr>
              <a:t>Existing tools operate in isolation — no integration with calendars, email, or project management platforms.</a:t>
            </a:r>
          </a:p>
          <a:p>
            <a:pPr>
              <a:spcAft>
                <a:spcPts val="700"/>
              </a:spcAft>
              <a:buSzPct val="100000"/>
            </a:pP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700"/>
              </a:spcAft>
              <a:buSzPct val="100000"/>
            </a:pPr>
            <a:r>
              <a:rPr lang="en-US" sz="1200" dirty="0">
                <a:solidFill>
                  <a:srgbClr val="FFFFFF"/>
                </a:solidFill>
              </a:rPr>
              <a:t>Complex interfaces lead users to abandon digital tools in favor of handwritten lists.</a:t>
            </a:r>
          </a:p>
          <a:p>
            <a:pPr>
              <a:spcAft>
                <a:spcPts val="700"/>
              </a:spcAft>
              <a:buSzPct val="100000"/>
            </a:pP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700"/>
              </a:spcAft>
              <a:buSzPct val="100000"/>
            </a:pPr>
            <a:r>
              <a:rPr lang="en-US" sz="1200" dirty="0">
                <a:solidFill>
                  <a:srgbClr val="FFFFFF"/>
                </a:solidFill>
              </a:rPr>
              <a:t>Team environments lack real-time collaborative features, hindering coordination and project tracking.</a:t>
            </a:r>
            <a:endParaRPr lang="en-US" sz="1200" dirty="0"/>
          </a:p>
        </p:txBody>
      </p:sp>
      <p:sp>
        <p:nvSpPr>
          <p:cNvPr id="1048635" name="Text 17"/>
          <p:cNvSpPr/>
          <p:nvPr/>
        </p:nvSpPr>
        <p:spPr>
          <a:xfrm>
            <a:off x="4270249" y="3369564"/>
            <a:ext cx="4005072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48636" name="Text 20"/>
          <p:cNvSpPr/>
          <p:nvPr/>
        </p:nvSpPr>
        <p:spPr>
          <a:xfrm>
            <a:off x="466344" y="3858768"/>
            <a:ext cx="4005072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48637" name="Text 23"/>
          <p:cNvSpPr/>
          <p:nvPr/>
        </p:nvSpPr>
        <p:spPr>
          <a:xfrm>
            <a:off x="4873752" y="3858768"/>
            <a:ext cx="4005072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48638" name="TextBox 26"/>
          <p:cNvSpPr txBox="1"/>
          <p:nvPr/>
        </p:nvSpPr>
        <p:spPr>
          <a:xfrm>
            <a:off x="2346960" y="2413754"/>
            <a:ext cx="470916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buSzPct val="100000"/>
            </a:pP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4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44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45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of Existing System</a:t>
            </a:r>
            <a:endParaRPr lang="en-US" sz="2600" dirty="0"/>
          </a:p>
        </p:txBody>
      </p:sp>
      <p:sp>
        <p:nvSpPr>
          <p:cNvPr id="1048646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4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48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8649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048650" name="Shape 8"/>
          <p:cNvSpPr/>
          <p:nvPr/>
        </p:nvSpPr>
        <p:spPr>
          <a:xfrm>
            <a:off x="256032" y="1024128"/>
            <a:ext cx="8631936" cy="69494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651" name="Shape 9"/>
          <p:cNvSpPr/>
          <p:nvPr/>
        </p:nvSpPr>
        <p:spPr>
          <a:xfrm>
            <a:off x="256032" y="1024128"/>
            <a:ext cx="658368" cy="694944"/>
          </a:xfrm>
          <a:prstGeom prst="rect">
            <a:avLst/>
          </a:prstGeom>
          <a:solidFill>
            <a:srgbClr val="E05050">
              <a:alpha val="85000"/>
            </a:srgbClr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52" name="Text 10"/>
          <p:cNvSpPr/>
          <p:nvPr/>
        </p:nvSpPr>
        <p:spPr>
          <a:xfrm>
            <a:off x="256032" y="1024128"/>
            <a:ext cx="658368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048653" name="Text 11"/>
          <p:cNvSpPr/>
          <p:nvPr/>
        </p:nvSpPr>
        <p:spPr>
          <a:xfrm>
            <a:off x="1005840" y="1097280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Functionality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only have basic features. They are not useful for users with complex tasks.</a:t>
            </a:r>
            <a:endParaRPr lang="en-US" sz="1200" dirty="0"/>
          </a:p>
        </p:txBody>
      </p:sp>
      <p:sp>
        <p:nvSpPr>
          <p:cNvPr id="1048654" name="Shape 12"/>
          <p:cNvSpPr/>
          <p:nvPr/>
        </p:nvSpPr>
        <p:spPr>
          <a:xfrm>
            <a:off x="256032" y="1810512"/>
            <a:ext cx="8631936" cy="69494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655" name="Shape 13"/>
          <p:cNvSpPr/>
          <p:nvPr/>
        </p:nvSpPr>
        <p:spPr>
          <a:xfrm>
            <a:off x="256032" y="1810512"/>
            <a:ext cx="658368" cy="694944"/>
          </a:xfrm>
          <a:prstGeom prst="rect">
            <a:avLst/>
          </a:prstGeom>
          <a:solidFill>
            <a:srgbClr val="D4860A">
              <a:alpha val="85000"/>
            </a:srgbClr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56" name="Text 14"/>
          <p:cNvSpPr/>
          <p:nvPr/>
        </p:nvSpPr>
        <p:spPr>
          <a:xfrm>
            <a:off x="256032" y="1810512"/>
            <a:ext cx="658368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048657" name="Text 15"/>
          <p:cNvSpPr/>
          <p:nvPr/>
        </p:nvSpPr>
        <p:spPr>
          <a:xfrm>
            <a:off x="1005840" y="1883664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Inflexibility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manually reschedule tasks when priorities change. This wastes time and causes missed deadlines.</a:t>
            </a:r>
            <a:endParaRPr lang="en-US" sz="1200" dirty="0"/>
          </a:p>
        </p:txBody>
      </p:sp>
      <p:sp>
        <p:nvSpPr>
          <p:cNvPr id="1048658" name="Shape 16"/>
          <p:cNvSpPr/>
          <p:nvPr/>
        </p:nvSpPr>
        <p:spPr>
          <a:xfrm>
            <a:off x="256032" y="2596896"/>
            <a:ext cx="8631936" cy="69494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659" name="Shape 17"/>
          <p:cNvSpPr/>
          <p:nvPr/>
        </p:nvSpPr>
        <p:spPr>
          <a:xfrm>
            <a:off x="256032" y="2596896"/>
            <a:ext cx="658368" cy="694944"/>
          </a:xfrm>
          <a:prstGeom prst="rect">
            <a:avLst/>
          </a:prstGeom>
          <a:solidFill>
            <a:srgbClr val="3AAFCC">
              <a:alpha val="85000"/>
            </a:srgbClr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60" name="Text 18"/>
          <p:cNvSpPr/>
          <p:nvPr/>
        </p:nvSpPr>
        <p:spPr>
          <a:xfrm>
            <a:off x="256032" y="2596896"/>
            <a:ext cx="658368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048661" name="Text 19"/>
          <p:cNvSpPr/>
          <p:nvPr/>
        </p:nvSpPr>
        <p:spPr>
          <a:xfrm>
            <a:off x="1005840" y="2670048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Integration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do not connect with calendars or other apps. This makes it hard to see all tasks in one place.</a:t>
            </a:r>
            <a:endParaRPr lang="en-US" sz="1200" dirty="0"/>
          </a:p>
        </p:txBody>
      </p:sp>
      <p:sp>
        <p:nvSpPr>
          <p:cNvPr id="1048662" name="Shape 20"/>
          <p:cNvSpPr/>
          <p:nvPr/>
        </p:nvSpPr>
        <p:spPr>
          <a:xfrm>
            <a:off x="256032" y="3383280"/>
            <a:ext cx="8631936" cy="69494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663" name="Shape 21"/>
          <p:cNvSpPr/>
          <p:nvPr/>
        </p:nvSpPr>
        <p:spPr>
          <a:xfrm>
            <a:off x="256032" y="3383280"/>
            <a:ext cx="658368" cy="694944"/>
          </a:xfrm>
          <a:prstGeom prst="rect">
            <a:avLst/>
          </a:prstGeom>
          <a:solidFill>
            <a:srgbClr val="9B59B6">
              <a:alpha val="85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64" name="Text 22"/>
          <p:cNvSpPr/>
          <p:nvPr/>
        </p:nvSpPr>
        <p:spPr>
          <a:xfrm>
            <a:off x="256032" y="3383280"/>
            <a:ext cx="658368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1048665" name="Text 23"/>
          <p:cNvSpPr/>
          <p:nvPr/>
        </p:nvSpPr>
        <p:spPr>
          <a:xfrm>
            <a:off x="1005840" y="3456432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Challenges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interfaces confuse users. Many people give up and use pen and paper instead.</a:t>
            </a:r>
            <a:endParaRPr lang="en-US" sz="1200" dirty="0"/>
          </a:p>
        </p:txBody>
      </p:sp>
      <p:sp>
        <p:nvSpPr>
          <p:cNvPr id="1048666" name="Shape 24"/>
          <p:cNvSpPr/>
          <p:nvPr/>
        </p:nvSpPr>
        <p:spPr>
          <a:xfrm>
            <a:off x="256032" y="4169664"/>
            <a:ext cx="8631936" cy="69494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667" name="Shape 25"/>
          <p:cNvSpPr/>
          <p:nvPr/>
        </p:nvSpPr>
        <p:spPr>
          <a:xfrm>
            <a:off x="256032" y="4169664"/>
            <a:ext cx="658368" cy="694944"/>
          </a:xfrm>
          <a:prstGeom prst="rect">
            <a:avLst/>
          </a:prstGeom>
          <a:solidFill>
            <a:srgbClr val="3CB97A">
              <a:alpha val="85000"/>
            </a:srgbClr>
          </a:solidFill>
          <a:ln w="12700">
            <a:solidFill>
              <a:srgbClr val="3CB9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68" name="Text 26"/>
          <p:cNvSpPr/>
          <p:nvPr/>
        </p:nvSpPr>
        <p:spPr>
          <a:xfrm>
            <a:off x="256032" y="4169664"/>
            <a:ext cx="658368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1048669" name="Text 27"/>
          <p:cNvSpPr/>
          <p:nvPr/>
        </p:nvSpPr>
        <p:spPr>
          <a:xfrm>
            <a:off x="1005840" y="4242816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Collaboration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cannot share tasks or track each other's work. This slows down team projects.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74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75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76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1048677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78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79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8680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1048681" name="Shape 8"/>
          <p:cNvSpPr/>
          <p:nvPr/>
        </p:nvSpPr>
        <p:spPr>
          <a:xfrm>
            <a:off x="256032" y="987552"/>
            <a:ext cx="8631936" cy="3840480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682" name="Shape 9"/>
          <p:cNvSpPr/>
          <p:nvPr/>
        </p:nvSpPr>
        <p:spPr>
          <a:xfrm>
            <a:off x="256032" y="987552"/>
            <a:ext cx="8631936" cy="347472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83" name="Text 10"/>
          <p:cNvSpPr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1048684" name="Text 11"/>
          <p:cNvSpPr/>
          <p:nvPr/>
        </p:nvSpPr>
        <p:spPr>
          <a:xfrm>
            <a:off x="411480" y="1426464"/>
            <a:ext cx="832104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fixes the problems of current tools. It makes scheduling, prioritizing, and tracking tasks simple and fast.</a:t>
            </a:r>
            <a:endParaRPr lang="en-US" sz="1200" dirty="0"/>
          </a:p>
        </p:txBody>
      </p:sp>
      <p:sp>
        <p:nvSpPr>
          <p:cNvPr id="1048685" name="Shape 12"/>
          <p:cNvSpPr/>
          <p:nvPr/>
        </p:nvSpPr>
        <p:spPr>
          <a:xfrm>
            <a:off x="347472" y="2377440"/>
            <a:ext cx="256032" cy="256032"/>
          </a:xfrm>
          <a:prstGeom prst="ellipse">
            <a:avLst/>
          </a:prstGeom>
          <a:solidFill>
            <a:srgbClr val="3AAFCC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86" name="Text 13"/>
          <p:cNvSpPr/>
          <p:nvPr/>
        </p:nvSpPr>
        <p:spPr>
          <a:xfrm>
            <a:off x="685800" y="2304288"/>
            <a:ext cx="8138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Task Management: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tasks and sort them by urgency, importance, or due date.</a:t>
            </a:r>
            <a:endParaRPr lang="en-US" sz="1150" dirty="0"/>
          </a:p>
        </p:txBody>
      </p:sp>
      <p:sp>
        <p:nvSpPr>
          <p:cNvPr id="1048687" name="Shape 14"/>
          <p:cNvSpPr/>
          <p:nvPr/>
        </p:nvSpPr>
        <p:spPr>
          <a:xfrm>
            <a:off x="347472" y="2889504"/>
            <a:ext cx="256032" cy="25603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88" name="Text 15"/>
          <p:cNvSpPr/>
          <p:nvPr/>
        </p:nvSpPr>
        <p:spPr>
          <a:xfrm>
            <a:off x="685800" y="2816352"/>
            <a:ext cx="8138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Scheduling Algorithms: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algorithms suggest the best time to do each task.</a:t>
            </a:r>
            <a:endParaRPr lang="en-US" sz="1150" dirty="0"/>
          </a:p>
        </p:txBody>
      </p:sp>
      <p:sp>
        <p:nvSpPr>
          <p:cNvPr id="1048689" name="Shape 16"/>
          <p:cNvSpPr/>
          <p:nvPr/>
        </p:nvSpPr>
        <p:spPr>
          <a:xfrm>
            <a:off x="347472" y="3401568"/>
            <a:ext cx="256032" cy="256032"/>
          </a:xfrm>
          <a:prstGeom prst="ellipse">
            <a:avLst/>
          </a:prstGeom>
          <a:solidFill>
            <a:srgbClr val="3CB97A"/>
          </a:solidFill>
          <a:ln w="12700">
            <a:solidFill>
              <a:srgbClr val="3CB9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90" name="Text 17"/>
          <p:cNvSpPr/>
          <p:nvPr/>
        </p:nvSpPr>
        <p:spPr>
          <a:xfrm>
            <a:off x="685800" y="3328416"/>
            <a:ext cx="8138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can share tasks and track work together in real time.</a:t>
            </a:r>
            <a:endParaRPr lang="en-US" sz="1150" dirty="0"/>
          </a:p>
        </p:txBody>
      </p:sp>
      <p:sp>
        <p:nvSpPr>
          <p:cNvPr id="1048691" name="Shape 18"/>
          <p:cNvSpPr/>
          <p:nvPr/>
        </p:nvSpPr>
        <p:spPr>
          <a:xfrm>
            <a:off x="347472" y="3913632"/>
            <a:ext cx="256032" cy="25603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92" name="Text 19"/>
          <p:cNvSpPr/>
          <p:nvPr/>
        </p:nvSpPr>
        <p:spPr>
          <a:xfrm>
            <a:off x="685800" y="3840480"/>
            <a:ext cx="8138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Productivity Tools: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with calendars and email for a complete view of all work.</a:t>
            </a:r>
            <a:endParaRPr lang="en-US" sz="1150" dirty="0"/>
          </a:p>
        </p:txBody>
      </p:sp>
      <p:sp>
        <p:nvSpPr>
          <p:cNvPr id="1048693" name="Shape 20"/>
          <p:cNvSpPr/>
          <p:nvPr/>
        </p:nvSpPr>
        <p:spPr>
          <a:xfrm>
            <a:off x="347472" y="4425696"/>
            <a:ext cx="256032" cy="256032"/>
          </a:xfrm>
          <a:prstGeom prst="ellipse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94" name="Text 21"/>
          <p:cNvSpPr/>
          <p:nvPr/>
        </p:nvSpPr>
        <p:spPr>
          <a:xfrm>
            <a:off x="685800" y="4352544"/>
            <a:ext cx="8138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drag-and-drop layout with color-coded priorities and a custom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699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00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01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Proposed System</a:t>
            </a:r>
            <a:endParaRPr lang="en-US" sz="2600" dirty="0"/>
          </a:p>
        </p:txBody>
      </p:sp>
      <p:sp>
        <p:nvSpPr>
          <p:cNvPr id="1048702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03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04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8705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1048706" name="Shape 8"/>
          <p:cNvSpPr/>
          <p:nvPr/>
        </p:nvSpPr>
        <p:spPr>
          <a:xfrm>
            <a:off x="256032" y="1024128"/>
            <a:ext cx="8631936" cy="69494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707" name="Shape 9"/>
          <p:cNvSpPr/>
          <p:nvPr/>
        </p:nvSpPr>
        <p:spPr>
          <a:xfrm>
            <a:off x="256032" y="1024128"/>
            <a:ext cx="658368" cy="694944"/>
          </a:xfrm>
          <a:prstGeom prst="rect">
            <a:avLst/>
          </a:prstGeom>
          <a:solidFill>
            <a:srgbClr val="3CB97A">
              <a:alpha val="85000"/>
            </a:srgbClr>
          </a:solidFill>
          <a:ln w="12700">
            <a:solidFill>
              <a:srgbClr val="3CB9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08" name="Text 10"/>
          <p:cNvSpPr/>
          <p:nvPr/>
        </p:nvSpPr>
        <p:spPr>
          <a:xfrm>
            <a:off x="256032" y="1024128"/>
            <a:ext cx="658368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048709" name="Text 11"/>
          <p:cNvSpPr/>
          <p:nvPr/>
        </p:nvSpPr>
        <p:spPr>
          <a:xfrm>
            <a:off x="1005840" y="1097280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Productivity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focus on important tasks first. This saves time and boosts productivity.</a:t>
            </a:r>
            <a:endParaRPr lang="en-US" sz="1200" dirty="0"/>
          </a:p>
        </p:txBody>
      </p:sp>
      <p:sp>
        <p:nvSpPr>
          <p:cNvPr id="1048710" name="Shape 12"/>
          <p:cNvSpPr/>
          <p:nvPr/>
        </p:nvSpPr>
        <p:spPr>
          <a:xfrm>
            <a:off x="256032" y="1810512"/>
            <a:ext cx="8631936" cy="69494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711" name="Shape 13"/>
          <p:cNvSpPr/>
          <p:nvPr/>
        </p:nvSpPr>
        <p:spPr>
          <a:xfrm>
            <a:off x="256032" y="1810512"/>
            <a:ext cx="658368" cy="694944"/>
          </a:xfrm>
          <a:prstGeom prst="rect">
            <a:avLst/>
          </a:prstGeom>
          <a:solidFill>
            <a:srgbClr val="3AAFCC">
              <a:alpha val="85000"/>
            </a:srgbClr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12" name="Text 14"/>
          <p:cNvSpPr/>
          <p:nvPr/>
        </p:nvSpPr>
        <p:spPr>
          <a:xfrm>
            <a:off x="256032" y="1810512"/>
            <a:ext cx="658368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048713" name="Text 15"/>
          <p:cNvSpPr/>
          <p:nvPr/>
        </p:nvSpPr>
        <p:spPr>
          <a:xfrm>
            <a:off x="1005840" y="1883664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Task Management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algorithms schedule tasks at the best times. This reduces delays and procrastination.</a:t>
            </a:r>
            <a:endParaRPr lang="en-US" sz="1200" dirty="0"/>
          </a:p>
        </p:txBody>
      </p:sp>
      <p:sp>
        <p:nvSpPr>
          <p:cNvPr id="1048714" name="Shape 16"/>
          <p:cNvSpPr/>
          <p:nvPr/>
        </p:nvSpPr>
        <p:spPr>
          <a:xfrm>
            <a:off x="256032" y="2596896"/>
            <a:ext cx="8631936" cy="69494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715" name="Shape 17"/>
          <p:cNvSpPr/>
          <p:nvPr/>
        </p:nvSpPr>
        <p:spPr>
          <a:xfrm>
            <a:off x="256032" y="2596896"/>
            <a:ext cx="658368" cy="694944"/>
          </a:xfrm>
          <a:prstGeom prst="rect">
            <a:avLst/>
          </a:prstGeom>
          <a:solidFill>
            <a:srgbClr val="D4A017">
              <a:alpha val="85000"/>
            </a:srgbClr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16" name="Text 18"/>
          <p:cNvSpPr/>
          <p:nvPr/>
        </p:nvSpPr>
        <p:spPr>
          <a:xfrm>
            <a:off x="256032" y="2596896"/>
            <a:ext cx="658368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048717" name="Text 19"/>
          <p:cNvSpPr/>
          <p:nvPr/>
        </p:nvSpPr>
        <p:spPr>
          <a:xfrm>
            <a:off x="1005840" y="2670048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share tasks and track progress together. Communication becomes easier and projects run smoothly.</a:t>
            </a:r>
            <a:endParaRPr lang="en-US" sz="1200" dirty="0"/>
          </a:p>
        </p:txBody>
      </p:sp>
      <p:sp>
        <p:nvSpPr>
          <p:cNvPr id="1048718" name="Shape 20"/>
          <p:cNvSpPr/>
          <p:nvPr/>
        </p:nvSpPr>
        <p:spPr>
          <a:xfrm>
            <a:off x="256032" y="3383280"/>
            <a:ext cx="8631936" cy="69494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719" name="Shape 21"/>
          <p:cNvSpPr/>
          <p:nvPr/>
        </p:nvSpPr>
        <p:spPr>
          <a:xfrm>
            <a:off x="256032" y="3383280"/>
            <a:ext cx="658368" cy="694944"/>
          </a:xfrm>
          <a:prstGeom prst="rect">
            <a:avLst/>
          </a:prstGeom>
          <a:solidFill>
            <a:srgbClr val="9B59B6">
              <a:alpha val="85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20" name="Text 22"/>
          <p:cNvSpPr/>
          <p:nvPr/>
        </p:nvSpPr>
        <p:spPr>
          <a:xfrm>
            <a:off x="256032" y="3383280"/>
            <a:ext cx="658368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1048721" name="Text 23"/>
          <p:cNvSpPr/>
          <p:nvPr/>
        </p:nvSpPr>
        <p:spPr>
          <a:xfrm>
            <a:off x="1005840" y="3456432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and calendars connect in one place. No deadline is missed.</a:t>
            </a:r>
            <a:endParaRPr lang="en-US" sz="1200" dirty="0"/>
          </a:p>
        </p:txBody>
      </p:sp>
      <p:sp>
        <p:nvSpPr>
          <p:cNvPr id="1048722" name="Shape 24"/>
          <p:cNvSpPr/>
          <p:nvPr/>
        </p:nvSpPr>
        <p:spPr>
          <a:xfrm>
            <a:off x="256032" y="4169664"/>
            <a:ext cx="8631936" cy="69494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723" name="Shape 25"/>
          <p:cNvSpPr/>
          <p:nvPr/>
        </p:nvSpPr>
        <p:spPr>
          <a:xfrm>
            <a:off x="256032" y="4169664"/>
            <a:ext cx="658368" cy="694944"/>
          </a:xfrm>
          <a:prstGeom prst="rect">
            <a:avLst/>
          </a:prstGeom>
          <a:solidFill>
            <a:srgbClr val="D4860A">
              <a:alpha val="85000"/>
            </a:srgbClr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24" name="Text 26"/>
          <p:cNvSpPr/>
          <p:nvPr/>
        </p:nvSpPr>
        <p:spPr>
          <a:xfrm>
            <a:off x="256032" y="4169664"/>
            <a:ext cx="658368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1048725" name="Text 27"/>
          <p:cNvSpPr/>
          <p:nvPr/>
        </p:nvSpPr>
        <p:spPr>
          <a:xfrm>
            <a:off x="1005840" y="4242816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design is easy to use. Drag-and-drop and dashboards make the experience smooth.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30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31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32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2600" dirty="0"/>
          </a:p>
        </p:txBody>
      </p:sp>
      <p:sp>
        <p:nvSpPr>
          <p:cNvPr id="1048733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34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35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8736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1048737" name="Shape 8"/>
          <p:cNvSpPr/>
          <p:nvPr/>
        </p:nvSpPr>
        <p:spPr>
          <a:xfrm>
            <a:off x="256032" y="987552"/>
            <a:ext cx="4114800" cy="3858768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738" name="Shape 9"/>
          <p:cNvSpPr/>
          <p:nvPr/>
        </p:nvSpPr>
        <p:spPr>
          <a:xfrm>
            <a:off x="256032" y="987552"/>
            <a:ext cx="4114800" cy="347472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39" name="Text 10"/>
          <p:cNvSpPr/>
          <p:nvPr/>
        </p:nvSpPr>
        <p:spPr>
          <a:xfrm>
            <a:off x="393192" y="103327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HARDWARE REQUIREMENTS</a:t>
            </a:r>
            <a:endParaRPr lang="en-US" sz="1200" dirty="0"/>
          </a:p>
        </p:txBody>
      </p:sp>
      <p:sp>
        <p:nvSpPr>
          <p:cNvPr id="1048740" name="Shape 11"/>
          <p:cNvSpPr/>
          <p:nvPr/>
        </p:nvSpPr>
        <p:spPr>
          <a:xfrm>
            <a:off x="347472" y="1554480"/>
            <a:ext cx="3840480" cy="877824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41" name="Shape 12"/>
          <p:cNvSpPr/>
          <p:nvPr/>
        </p:nvSpPr>
        <p:spPr>
          <a:xfrm>
            <a:off x="347472" y="1554480"/>
            <a:ext cx="64008" cy="87782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42" name="Text 13"/>
          <p:cNvSpPr/>
          <p:nvPr/>
        </p:nvSpPr>
        <p:spPr>
          <a:xfrm>
            <a:off x="512064" y="164592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150" dirty="0"/>
          </a:p>
        </p:txBody>
      </p:sp>
      <p:sp>
        <p:nvSpPr>
          <p:cNvPr id="1048743" name="Text 14"/>
          <p:cNvSpPr/>
          <p:nvPr/>
        </p:nvSpPr>
        <p:spPr>
          <a:xfrm>
            <a:off x="512064" y="1993392"/>
            <a:ext cx="3566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Pentium IV 2.4 GHz</a:t>
            </a:r>
            <a:endParaRPr lang="en-US" sz="1400" dirty="0"/>
          </a:p>
        </p:txBody>
      </p:sp>
      <p:sp>
        <p:nvSpPr>
          <p:cNvPr id="1048744" name="Shape 15"/>
          <p:cNvSpPr/>
          <p:nvPr/>
        </p:nvSpPr>
        <p:spPr>
          <a:xfrm>
            <a:off x="347472" y="2606040"/>
            <a:ext cx="3840480" cy="877824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45" name="Shape 16"/>
          <p:cNvSpPr/>
          <p:nvPr/>
        </p:nvSpPr>
        <p:spPr>
          <a:xfrm>
            <a:off x="347472" y="2606040"/>
            <a:ext cx="64008" cy="87782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46" name="Text 17"/>
          <p:cNvSpPr/>
          <p:nvPr/>
        </p:nvSpPr>
        <p:spPr>
          <a:xfrm>
            <a:off x="512064" y="269748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Disk</a:t>
            </a:r>
            <a:endParaRPr lang="en-US" sz="1150" dirty="0"/>
          </a:p>
        </p:txBody>
      </p:sp>
      <p:sp>
        <p:nvSpPr>
          <p:cNvPr id="1048747" name="Text 18"/>
          <p:cNvSpPr/>
          <p:nvPr/>
        </p:nvSpPr>
        <p:spPr>
          <a:xfrm>
            <a:off x="512064" y="3044952"/>
            <a:ext cx="3566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GB</a:t>
            </a:r>
            <a:endParaRPr lang="en-US" sz="1400" dirty="0"/>
          </a:p>
        </p:txBody>
      </p:sp>
      <p:sp>
        <p:nvSpPr>
          <p:cNvPr id="1048748" name="Shape 19"/>
          <p:cNvSpPr/>
          <p:nvPr/>
        </p:nvSpPr>
        <p:spPr>
          <a:xfrm>
            <a:off x="347472" y="3657600"/>
            <a:ext cx="3840480" cy="877824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49" name="Shape 20"/>
          <p:cNvSpPr/>
          <p:nvPr/>
        </p:nvSpPr>
        <p:spPr>
          <a:xfrm>
            <a:off x="347472" y="3657600"/>
            <a:ext cx="64008" cy="87782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50" name="Text 21"/>
          <p:cNvSpPr/>
          <p:nvPr/>
        </p:nvSpPr>
        <p:spPr>
          <a:xfrm>
            <a:off x="512064" y="374904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50" dirty="0"/>
          </a:p>
        </p:txBody>
      </p:sp>
      <p:sp>
        <p:nvSpPr>
          <p:cNvPr id="1048751" name="Text 22"/>
          <p:cNvSpPr/>
          <p:nvPr/>
        </p:nvSpPr>
        <p:spPr>
          <a:xfrm>
            <a:off x="512064" y="4096512"/>
            <a:ext cx="3566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MB</a:t>
            </a:r>
            <a:endParaRPr lang="en-US" sz="1400" dirty="0"/>
          </a:p>
        </p:txBody>
      </p:sp>
      <p:sp>
        <p:nvSpPr>
          <p:cNvPr id="1048752" name="Shape 23"/>
          <p:cNvSpPr/>
          <p:nvPr/>
        </p:nvSpPr>
        <p:spPr>
          <a:xfrm>
            <a:off x="4773168" y="987552"/>
            <a:ext cx="4114800" cy="3858768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753" name="Shape 24"/>
          <p:cNvSpPr/>
          <p:nvPr/>
        </p:nvSpPr>
        <p:spPr>
          <a:xfrm>
            <a:off x="4773168" y="987552"/>
            <a:ext cx="4114800" cy="347472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54" name="Text 25"/>
          <p:cNvSpPr/>
          <p:nvPr/>
        </p:nvSpPr>
        <p:spPr>
          <a:xfrm>
            <a:off x="4910328" y="103327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SOFTWARE REQUIREMENTS</a:t>
            </a:r>
            <a:endParaRPr lang="en-US" sz="1200" dirty="0"/>
          </a:p>
        </p:txBody>
      </p:sp>
      <p:sp>
        <p:nvSpPr>
          <p:cNvPr id="1048755" name="Shape 26"/>
          <p:cNvSpPr/>
          <p:nvPr/>
        </p:nvSpPr>
        <p:spPr>
          <a:xfrm>
            <a:off x="4864608" y="1554480"/>
            <a:ext cx="3840480" cy="877824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56" name="Shape 27"/>
          <p:cNvSpPr/>
          <p:nvPr/>
        </p:nvSpPr>
        <p:spPr>
          <a:xfrm>
            <a:off x="4864608" y="1554480"/>
            <a:ext cx="64008" cy="877824"/>
          </a:xfrm>
          <a:prstGeom prst="rect">
            <a:avLst/>
          </a:prstGeom>
          <a:solidFill>
            <a:srgbClr val="3AAFCC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57" name="Text 28"/>
          <p:cNvSpPr/>
          <p:nvPr/>
        </p:nvSpPr>
        <p:spPr>
          <a:xfrm>
            <a:off x="5029200" y="164592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150" dirty="0"/>
          </a:p>
        </p:txBody>
      </p:sp>
      <p:sp>
        <p:nvSpPr>
          <p:cNvPr id="1048758" name="Text 29"/>
          <p:cNvSpPr/>
          <p:nvPr/>
        </p:nvSpPr>
        <p:spPr>
          <a:xfrm>
            <a:off x="5029200" y="1993392"/>
            <a:ext cx="3566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400" dirty="0"/>
          </a:p>
        </p:txBody>
      </p:sp>
      <p:sp>
        <p:nvSpPr>
          <p:cNvPr id="1048759" name="Shape 30"/>
          <p:cNvSpPr/>
          <p:nvPr/>
        </p:nvSpPr>
        <p:spPr>
          <a:xfrm>
            <a:off x="4864608" y="2606040"/>
            <a:ext cx="3840480" cy="877824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60" name="Shape 31"/>
          <p:cNvSpPr/>
          <p:nvPr/>
        </p:nvSpPr>
        <p:spPr>
          <a:xfrm>
            <a:off x="4864608" y="2606040"/>
            <a:ext cx="64008" cy="877824"/>
          </a:xfrm>
          <a:prstGeom prst="rect">
            <a:avLst/>
          </a:prstGeom>
          <a:solidFill>
            <a:srgbClr val="3AAFCC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61" name="Text 32"/>
          <p:cNvSpPr/>
          <p:nvPr/>
        </p:nvSpPr>
        <p:spPr>
          <a:xfrm>
            <a:off x="5029200" y="269748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Language</a:t>
            </a:r>
            <a:endParaRPr lang="en-US" sz="1150" dirty="0"/>
          </a:p>
        </p:txBody>
      </p:sp>
      <p:sp>
        <p:nvSpPr>
          <p:cNvPr id="1048762" name="Text 33"/>
          <p:cNvSpPr/>
          <p:nvPr/>
        </p:nvSpPr>
        <p:spPr>
          <a:xfrm>
            <a:off x="5029200" y="3044952"/>
            <a:ext cx="3566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3.7.2</a:t>
            </a:r>
            <a:endParaRPr lang="en-US" sz="1400" dirty="0"/>
          </a:p>
        </p:txBody>
      </p:sp>
      <p:sp>
        <p:nvSpPr>
          <p:cNvPr id="1048763" name="Shape 34"/>
          <p:cNvSpPr/>
          <p:nvPr/>
        </p:nvSpPr>
        <p:spPr>
          <a:xfrm>
            <a:off x="4864608" y="3657600"/>
            <a:ext cx="3840480" cy="877824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64" name="Shape 35"/>
          <p:cNvSpPr/>
          <p:nvPr/>
        </p:nvSpPr>
        <p:spPr>
          <a:xfrm>
            <a:off x="4864608" y="3657600"/>
            <a:ext cx="64008" cy="877824"/>
          </a:xfrm>
          <a:prstGeom prst="rect">
            <a:avLst/>
          </a:prstGeom>
          <a:solidFill>
            <a:srgbClr val="3AAFCC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65" name="Text 36"/>
          <p:cNvSpPr/>
          <p:nvPr/>
        </p:nvSpPr>
        <p:spPr>
          <a:xfrm>
            <a:off x="5029200" y="374904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048766" name="Text 37"/>
          <p:cNvSpPr/>
          <p:nvPr/>
        </p:nvSpPr>
        <p:spPr>
          <a:xfrm>
            <a:off x="5029200" y="4096512"/>
            <a:ext cx="3566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71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72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73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of the Project</a:t>
            </a:r>
            <a:endParaRPr lang="en-US" sz="2600" dirty="0"/>
          </a:p>
        </p:txBody>
      </p:sp>
      <p:sp>
        <p:nvSpPr>
          <p:cNvPr id="1048774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75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76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8777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1048778" name="Shape 8"/>
          <p:cNvSpPr/>
          <p:nvPr/>
        </p:nvSpPr>
        <p:spPr>
          <a:xfrm>
            <a:off x="256032" y="1024128"/>
            <a:ext cx="2798064" cy="171907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779" name="Shape 9"/>
          <p:cNvSpPr/>
          <p:nvPr/>
        </p:nvSpPr>
        <p:spPr>
          <a:xfrm>
            <a:off x="256032" y="1024128"/>
            <a:ext cx="530352" cy="1719072"/>
          </a:xfrm>
          <a:prstGeom prst="rect">
            <a:avLst/>
          </a:prstGeom>
          <a:solidFill>
            <a:srgbClr val="D4A017">
              <a:alpha val="82000"/>
            </a:srgbClr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80" name="Text 10"/>
          <p:cNvSpPr/>
          <p:nvPr/>
        </p:nvSpPr>
        <p:spPr>
          <a:xfrm>
            <a:off x="292608" y="1609344"/>
            <a:ext cx="457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048781" name="Text 11"/>
          <p:cNvSpPr/>
          <p:nvPr/>
        </p:nvSpPr>
        <p:spPr>
          <a:xfrm>
            <a:off x="850392" y="1133856"/>
            <a:ext cx="2139696" cy="1481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User Authentication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encrypted. Only the right user can log in.</a:t>
            </a:r>
            <a:endParaRPr lang="en-US" sz="1100" dirty="0"/>
          </a:p>
        </p:txBody>
      </p:sp>
      <p:sp>
        <p:nvSpPr>
          <p:cNvPr id="1048782" name="Shape 12"/>
          <p:cNvSpPr/>
          <p:nvPr/>
        </p:nvSpPr>
        <p:spPr>
          <a:xfrm>
            <a:off x="3218688" y="1024128"/>
            <a:ext cx="2798064" cy="171907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783" name="Shape 13"/>
          <p:cNvSpPr/>
          <p:nvPr/>
        </p:nvSpPr>
        <p:spPr>
          <a:xfrm>
            <a:off x="3218688" y="1024128"/>
            <a:ext cx="530352" cy="1719072"/>
          </a:xfrm>
          <a:prstGeom prst="rect">
            <a:avLst/>
          </a:prstGeom>
          <a:solidFill>
            <a:srgbClr val="3AAFCC">
              <a:alpha val="82000"/>
            </a:srgbClr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84" name="Text 14"/>
          <p:cNvSpPr/>
          <p:nvPr/>
        </p:nvSpPr>
        <p:spPr>
          <a:xfrm>
            <a:off x="3255264" y="1609344"/>
            <a:ext cx="457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048785" name="Text 15"/>
          <p:cNvSpPr/>
          <p:nvPr/>
        </p:nvSpPr>
        <p:spPr>
          <a:xfrm>
            <a:off x="3813048" y="1133856"/>
            <a:ext cx="2139696" cy="1481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Email Notifications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email alerts remind users of pending tasks at a set time.</a:t>
            </a:r>
            <a:endParaRPr lang="en-US" sz="1100" dirty="0"/>
          </a:p>
        </p:txBody>
      </p:sp>
      <p:sp>
        <p:nvSpPr>
          <p:cNvPr id="1048786" name="Shape 16"/>
          <p:cNvSpPr/>
          <p:nvPr/>
        </p:nvSpPr>
        <p:spPr>
          <a:xfrm>
            <a:off x="6181344" y="1024128"/>
            <a:ext cx="2798064" cy="171907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787" name="Shape 17"/>
          <p:cNvSpPr/>
          <p:nvPr/>
        </p:nvSpPr>
        <p:spPr>
          <a:xfrm>
            <a:off x="6181344" y="1024128"/>
            <a:ext cx="530352" cy="1719072"/>
          </a:xfrm>
          <a:prstGeom prst="rect">
            <a:avLst/>
          </a:prstGeom>
          <a:solidFill>
            <a:srgbClr val="3CB97A">
              <a:alpha val="82000"/>
            </a:srgbClr>
          </a:solidFill>
          <a:ln w="12700">
            <a:solidFill>
              <a:srgbClr val="3CB9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88" name="Text 18"/>
          <p:cNvSpPr/>
          <p:nvPr/>
        </p:nvSpPr>
        <p:spPr>
          <a:xfrm>
            <a:off x="6217920" y="1609344"/>
            <a:ext cx="457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048789" name="Text 19"/>
          <p:cNvSpPr/>
          <p:nvPr/>
        </p:nvSpPr>
        <p:spPr>
          <a:xfrm>
            <a:off x="6775704" y="1133856"/>
            <a:ext cx="2139696" cy="1481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Task Prioritization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sorted by due date so users always know what to do next.</a:t>
            </a:r>
            <a:endParaRPr lang="en-US" sz="1100" dirty="0"/>
          </a:p>
        </p:txBody>
      </p:sp>
      <p:sp>
        <p:nvSpPr>
          <p:cNvPr id="1048790" name="Shape 20"/>
          <p:cNvSpPr/>
          <p:nvPr/>
        </p:nvSpPr>
        <p:spPr>
          <a:xfrm>
            <a:off x="256032" y="2907792"/>
            <a:ext cx="2798064" cy="171907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791" name="Shape 21"/>
          <p:cNvSpPr/>
          <p:nvPr/>
        </p:nvSpPr>
        <p:spPr>
          <a:xfrm>
            <a:off x="256032" y="2907792"/>
            <a:ext cx="530352" cy="1719072"/>
          </a:xfrm>
          <a:prstGeom prst="rect">
            <a:avLst/>
          </a:prstGeom>
          <a:solidFill>
            <a:srgbClr val="D4860A">
              <a:alpha val="82000"/>
            </a:srgbClr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92" name="Text 22"/>
          <p:cNvSpPr/>
          <p:nvPr/>
        </p:nvSpPr>
        <p:spPr>
          <a:xfrm>
            <a:off x="292608" y="3493008"/>
            <a:ext cx="457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1048793" name="Text 23"/>
          <p:cNvSpPr/>
          <p:nvPr/>
        </p:nvSpPr>
        <p:spPr>
          <a:xfrm>
            <a:off x="850392" y="3017520"/>
            <a:ext cx="2139696" cy="1481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Task Lifecycle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create, view, edit, delete, and complete tasks easily.</a:t>
            </a:r>
            <a:endParaRPr lang="en-US" sz="1100" dirty="0"/>
          </a:p>
        </p:txBody>
      </p:sp>
      <p:sp>
        <p:nvSpPr>
          <p:cNvPr id="1048794" name="Shape 24"/>
          <p:cNvSpPr/>
          <p:nvPr/>
        </p:nvSpPr>
        <p:spPr>
          <a:xfrm>
            <a:off x="3218688" y="2907792"/>
            <a:ext cx="2798064" cy="171907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795" name="Shape 25"/>
          <p:cNvSpPr/>
          <p:nvPr/>
        </p:nvSpPr>
        <p:spPr>
          <a:xfrm>
            <a:off x="3218688" y="2907792"/>
            <a:ext cx="530352" cy="1719072"/>
          </a:xfrm>
          <a:prstGeom prst="rect">
            <a:avLst/>
          </a:prstGeom>
          <a:solidFill>
            <a:srgbClr val="9B59B6">
              <a:alpha val="82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796" name="Text 26"/>
          <p:cNvSpPr/>
          <p:nvPr/>
        </p:nvSpPr>
        <p:spPr>
          <a:xfrm>
            <a:off x="3255264" y="3493008"/>
            <a:ext cx="457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1048797" name="Text 27"/>
          <p:cNvSpPr/>
          <p:nvPr/>
        </p:nvSpPr>
        <p:spPr>
          <a:xfrm>
            <a:off x="3813048" y="3017520"/>
            <a:ext cx="2139696" cy="1481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MySQL Web Stack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and MySQL. Works on any platform and is easy to deploy.</a:t>
            </a:r>
            <a:endParaRPr lang="en-US" sz="1100" dirty="0"/>
          </a:p>
        </p:txBody>
      </p:sp>
      <p:sp>
        <p:nvSpPr>
          <p:cNvPr id="1048798" name="Shape 28"/>
          <p:cNvSpPr/>
          <p:nvPr/>
        </p:nvSpPr>
        <p:spPr>
          <a:xfrm>
            <a:off x="6173849" y="2907792"/>
            <a:ext cx="2798064" cy="171907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799" name="Shape 29"/>
          <p:cNvSpPr/>
          <p:nvPr/>
        </p:nvSpPr>
        <p:spPr>
          <a:xfrm>
            <a:off x="6181344" y="2907792"/>
            <a:ext cx="530352" cy="1719072"/>
          </a:xfrm>
          <a:prstGeom prst="rect">
            <a:avLst/>
          </a:prstGeom>
          <a:solidFill>
            <a:srgbClr val="E05050">
              <a:alpha val="82000"/>
            </a:srgbClr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00" name="Text 30"/>
          <p:cNvSpPr/>
          <p:nvPr/>
        </p:nvSpPr>
        <p:spPr>
          <a:xfrm>
            <a:off x="6217920" y="3493008"/>
            <a:ext cx="457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1048801" name="Text 31"/>
          <p:cNvSpPr/>
          <p:nvPr/>
        </p:nvSpPr>
        <p:spPr>
          <a:xfrm>
            <a:off x="6775704" y="3017520"/>
            <a:ext cx="2139696" cy="1481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NLP Ready Architecture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AI scheduling, voice commands, and smart device support in the future.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06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07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08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1048809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10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11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8812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1048813" name="Text 8"/>
          <p:cNvSpPr/>
          <p:nvPr/>
        </p:nvSpPr>
        <p:spPr>
          <a:xfrm>
            <a:off x="274320" y="914400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Web Architecture</a:t>
            </a:r>
            <a:endParaRPr lang="en-US" sz="1200" dirty="0"/>
          </a:p>
        </p:txBody>
      </p:sp>
      <p:sp>
        <p:nvSpPr>
          <p:cNvPr id="1048814" name="Shape 9"/>
          <p:cNvSpPr/>
          <p:nvPr/>
        </p:nvSpPr>
        <p:spPr>
          <a:xfrm>
            <a:off x="640080" y="1261872"/>
            <a:ext cx="7863840" cy="1024128"/>
          </a:xfrm>
          <a:prstGeom prst="rect">
            <a:avLst/>
          </a:prstGeom>
          <a:solidFill>
            <a:srgbClr val="1A5C3A"/>
          </a:solidFill>
          <a:ln w="19050">
            <a:solidFill>
              <a:srgbClr val="3CB9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815" name="Shape 10"/>
          <p:cNvSpPr/>
          <p:nvPr/>
        </p:nvSpPr>
        <p:spPr>
          <a:xfrm>
            <a:off x="640080" y="1261872"/>
            <a:ext cx="109728" cy="1024128"/>
          </a:xfrm>
          <a:prstGeom prst="rect">
            <a:avLst/>
          </a:prstGeom>
          <a:solidFill>
            <a:srgbClr val="3CB97A"/>
          </a:solidFill>
          <a:ln w="12700">
            <a:solidFill>
              <a:srgbClr val="3CB9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16" name="Text 11"/>
          <p:cNvSpPr/>
          <p:nvPr/>
        </p:nvSpPr>
        <p:spPr>
          <a:xfrm>
            <a:off x="914400" y="1353312"/>
            <a:ext cx="7406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1048817" name="Text 12"/>
          <p:cNvSpPr/>
          <p:nvPr/>
        </p:nvSpPr>
        <p:spPr>
          <a:xfrm>
            <a:off x="914400" y="1719072"/>
            <a:ext cx="74066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 (HTML / CSS / JavaScript)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 •  Dashboard  •  Task Views  •  Notification Panel</a:t>
            </a:r>
            <a:endParaRPr lang="en-US" sz="1150" dirty="0"/>
          </a:p>
        </p:txBody>
      </p:sp>
      <p:sp>
        <p:nvSpPr>
          <p:cNvPr id="1048818" name="Text 13"/>
          <p:cNvSpPr/>
          <p:nvPr/>
        </p:nvSpPr>
        <p:spPr>
          <a:xfrm>
            <a:off x="4297680" y="2286000"/>
            <a:ext cx="548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048819" name="Shape 14"/>
          <p:cNvSpPr/>
          <p:nvPr/>
        </p:nvSpPr>
        <p:spPr>
          <a:xfrm>
            <a:off x="640080" y="2468880"/>
            <a:ext cx="7863840" cy="1024128"/>
          </a:xfrm>
          <a:prstGeom prst="rect">
            <a:avLst/>
          </a:prstGeom>
          <a:solidFill>
            <a:srgbClr val="1A2E6B"/>
          </a:solidFill>
          <a:ln w="19050">
            <a:solidFill>
              <a:srgbClr val="3AAFCC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820" name="Shape 15"/>
          <p:cNvSpPr/>
          <p:nvPr/>
        </p:nvSpPr>
        <p:spPr>
          <a:xfrm>
            <a:off x="640080" y="2468880"/>
            <a:ext cx="109728" cy="1024128"/>
          </a:xfrm>
          <a:prstGeom prst="rect">
            <a:avLst/>
          </a:prstGeom>
          <a:solidFill>
            <a:srgbClr val="3AAFCC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21" name="Text 16"/>
          <p:cNvSpPr/>
          <p:nvPr/>
        </p:nvSpPr>
        <p:spPr>
          <a:xfrm>
            <a:off x="914400" y="2560320"/>
            <a:ext cx="7406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048822" name="Text 17"/>
          <p:cNvSpPr/>
          <p:nvPr/>
        </p:nvSpPr>
        <p:spPr>
          <a:xfrm>
            <a:off x="914400" y="2926080"/>
            <a:ext cx="74066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Server  (run.bat  →  http://127.0.0.1:8000)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Logic  •  Scheduler Engine  •  SMTP Notification  •  Auth Module</a:t>
            </a:r>
            <a:endParaRPr lang="en-US" sz="1150" dirty="0"/>
          </a:p>
        </p:txBody>
      </p:sp>
      <p:sp>
        <p:nvSpPr>
          <p:cNvPr id="1048823" name="Text 18"/>
          <p:cNvSpPr/>
          <p:nvPr/>
        </p:nvSpPr>
        <p:spPr>
          <a:xfrm>
            <a:off x="4297680" y="3493008"/>
            <a:ext cx="548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048824" name="Shape 19"/>
          <p:cNvSpPr/>
          <p:nvPr/>
        </p:nvSpPr>
        <p:spPr>
          <a:xfrm>
            <a:off x="640080" y="3675888"/>
            <a:ext cx="7863840" cy="1024128"/>
          </a:xfrm>
          <a:prstGeom prst="rect">
            <a:avLst/>
          </a:prstGeom>
          <a:solidFill>
            <a:srgbClr val="5A1A1A"/>
          </a:solidFill>
          <a:ln w="19050">
            <a:solidFill>
              <a:srgbClr val="E05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825" name="Shape 20"/>
          <p:cNvSpPr/>
          <p:nvPr/>
        </p:nvSpPr>
        <p:spPr>
          <a:xfrm>
            <a:off x="640080" y="3675888"/>
            <a:ext cx="109728" cy="102412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26" name="Text 21"/>
          <p:cNvSpPr/>
          <p:nvPr/>
        </p:nvSpPr>
        <p:spPr>
          <a:xfrm>
            <a:off x="914400" y="3767328"/>
            <a:ext cx="7406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048827" name="Text 22"/>
          <p:cNvSpPr/>
          <p:nvPr/>
        </p:nvSpPr>
        <p:spPr>
          <a:xfrm>
            <a:off x="914400" y="4133088"/>
            <a:ext cx="74066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 •  Tasks  •  Encrypted Passwords  •  Notification Settings</a:t>
            </a:r>
            <a:endParaRPr lang="en-US" sz="1150" dirty="0"/>
          </a:p>
        </p:txBody>
      </p:sp>
      <p:sp>
        <p:nvSpPr>
          <p:cNvPr id="1048828" name="Text 23"/>
          <p:cNvSpPr/>
          <p:nvPr/>
        </p:nvSpPr>
        <p:spPr>
          <a:xfrm rot="16200000">
            <a:off x="0" y="1554480"/>
            <a:ext cx="594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↕</a:t>
            </a:r>
            <a:endParaRPr lang="en-US" sz="800" dirty="0"/>
          </a:p>
        </p:txBody>
      </p:sp>
      <p:sp>
        <p:nvSpPr>
          <p:cNvPr id="1048829" name="Text 24"/>
          <p:cNvSpPr/>
          <p:nvPr/>
        </p:nvSpPr>
        <p:spPr>
          <a:xfrm rot="16200000">
            <a:off x="0" y="2761488"/>
            <a:ext cx="594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↕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518"/>
            <a:ext cx="9144000" cy="4514463"/>
          </a:xfrm>
          <a:prstGeom prst="rect">
            <a:avLst/>
          </a:prstGeom>
        </p:spPr>
      </p:pic>
      <p:sp>
        <p:nvSpPr>
          <p:cNvPr id="1048833" name="FooterText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35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36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37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2600" dirty="0"/>
          </a:p>
        </p:txBody>
      </p:sp>
      <p:sp>
        <p:nvSpPr>
          <p:cNvPr id="1048838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39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40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8841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048842" name="Shape 8"/>
          <p:cNvSpPr/>
          <p:nvPr/>
        </p:nvSpPr>
        <p:spPr>
          <a:xfrm>
            <a:off x="256032" y="1024128"/>
            <a:ext cx="2798064" cy="1229868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843" name="Shape 9"/>
          <p:cNvSpPr/>
          <p:nvPr/>
        </p:nvSpPr>
        <p:spPr>
          <a:xfrm>
            <a:off x="438912" y="1627632"/>
            <a:ext cx="512064" cy="512064"/>
          </a:xfrm>
          <a:prstGeom prst="ellipse">
            <a:avLst/>
          </a:prstGeom>
          <a:solidFill>
            <a:srgbClr val="D4A017">
              <a:alpha val="88000"/>
            </a:srgbClr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44" name="Text 10"/>
          <p:cNvSpPr/>
          <p:nvPr/>
        </p:nvSpPr>
        <p:spPr>
          <a:xfrm>
            <a:off x="438912" y="1627632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48845" name="Text 11"/>
          <p:cNvSpPr/>
          <p:nvPr/>
        </p:nvSpPr>
        <p:spPr>
          <a:xfrm>
            <a:off x="1042416" y="1115568"/>
            <a:ext cx="1938528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Sign Up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registers with encrypted password — secure account creation using hashing algorithm.</a:t>
            </a:r>
            <a:endParaRPr lang="en-US" sz="1100" dirty="0"/>
          </a:p>
        </p:txBody>
      </p:sp>
      <p:sp>
        <p:nvSpPr>
          <p:cNvPr id="1048846" name="Shape 12"/>
          <p:cNvSpPr/>
          <p:nvPr/>
        </p:nvSpPr>
        <p:spPr>
          <a:xfrm>
            <a:off x="3172968" y="1030986"/>
            <a:ext cx="2798064" cy="1229868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847" name="Shape 13"/>
          <p:cNvSpPr/>
          <p:nvPr/>
        </p:nvSpPr>
        <p:spPr>
          <a:xfrm>
            <a:off x="3401568" y="1627632"/>
            <a:ext cx="512064" cy="512064"/>
          </a:xfrm>
          <a:prstGeom prst="ellipse">
            <a:avLst/>
          </a:prstGeom>
          <a:solidFill>
            <a:srgbClr val="3AAFCC">
              <a:alpha val="88000"/>
            </a:srgbClr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48" name="Text 14"/>
          <p:cNvSpPr/>
          <p:nvPr/>
        </p:nvSpPr>
        <p:spPr>
          <a:xfrm>
            <a:off x="3401568" y="1627632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48849" name="Text 15"/>
          <p:cNvSpPr/>
          <p:nvPr/>
        </p:nvSpPr>
        <p:spPr>
          <a:xfrm>
            <a:off x="4005072" y="1115568"/>
            <a:ext cx="1938528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 authenticate and access the full task management dashboard securely.</a:t>
            </a:r>
            <a:endParaRPr lang="en-US" sz="1100" dirty="0"/>
          </a:p>
        </p:txBody>
      </p:sp>
      <p:sp>
        <p:nvSpPr>
          <p:cNvPr id="1048850" name="Shape 16"/>
          <p:cNvSpPr/>
          <p:nvPr/>
        </p:nvSpPr>
        <p:spPr>
          <a:xfrm>
            <a:off x="6181344" y="1024128"/>
            <a:ext cx="2798064" cy="1229868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851" name="Shape 17"/>
          <p:cNvSpPr/>
          <p:nvPr/>
        </p:nvSpPr>
        <p:spPr>
          <a:xfrm>
            <a:off x="6364224" y="1627632"/>
            <a:ext cx="512064" cy="512064"/>
          </a:xfrm>
          <a:prstGeom prst="ellipse">
            <a:avLst/>
          </a:prstGeom>
          <a:solidFill>
            <a:srgbClr val="3CB97A">
              <a:alpha val="88000"/>
            </a:srgbClr>
          </a:solidFill>
          <a:ln w="12700">
            <a:solidFill>
              <a:srgbClr val="3CB9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52" name="Text 18"/>
          <p:cNvSpPr/>
          <p:nvPr/>
        </p:nvSpPr>
        <p:spPr>
          <a:xfrm>
            <a:off x="6364224" y="1627632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48853" name="Text 19"/>
          <p:cNvSpPr/>
          <p:nvPr/>
        </p:nvSpPr>
        <p:spPr>
          <a:xfrm>
            <a:off x="6967728" y="1115568"/>
            <a:ext cx="1938528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update their account password at any time for security maintenance.</a:t>
            </a:r>
            <a:endParaRPr lang="en-US" sz="1100" dirty="0"/>
          </a:p>
        </p:txBody>
      </p:sp>
      <p:sp>
        <p:nvSpPr>
          <p:cNvPr id="1048854" name="Shape 20"/>
          <p:cNvSpPr/>
          <p:nvPr/>
        </p:nvSpPr>
        <p:spPr>
          <a:xfrm>
            <a:off x="256032" y="2423160"/>
            <a:ext cx="2798064" cy="122072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855" name="Shape 21"/>
          <p:cNvSpPr/>
          <p:nvPr/>
        </p:nvSpPr>
        <p:spPr>
          <a:xfrm>
            <a:off x="457200" y="2697480"/>
            <a:ext cx="493776" cy="480060"/>
          </a:xfrm>
          <a:prstGeom prst="ellipse">
            <a:avLst/>
          </a:prstGeom>
          <a:solidFill>
            <a:srgbClr val="D4860A">
              <a:alpha val="88000"/>
            </a:srgbClr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56" name="Text 22"/>
          <p:cNvSpPr/>
          <p:nvPr/>
        </p:nvSpPr>
        <p:spPr>
          <a:xfrm>
            <a:off x="438912" y="2697480"/>
            <a:ext cx="512064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48857" name="Text 23"/>
          <p:cNvSpPr/>
          <p:nvPr/>
        </p:nvSpPr>
        <p:spPr>
          <a:xfrm>
            <a:off x="1042416" y="2455164"/>
            <a:ext cx="1938528" cy="10378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 with title, description, and due-date — reminder is automatically scheduled.</a:t>
            </a:r>
            <a:endParaRPr lang="en-US" sz="1100" dirty="0"/>
          </a:p>
        </p:txBody>
      </p:sp>
      <p:sp>
        <p:nvSpPr>
          <p:cNvPr id="1048858" name="Shape 24"/>
          <p:cNvSpPr/>
          <p:nvPr/>
        </p:nvSpPr>
        <p:spPr>
          <a:xfrm>
            <a:off x="3218688" y="2416302"/>
            <a:ext cx="2798064" cy="122072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859" name="Shape 25"/>
          <p:cNvSpPr/>
          <p:nvPr/>
        </p:nvSpPr>
        <p:spPr>
          <a:xfrm>
            <a:off x="3401568" y="2624328"/>
            <a:ext cx="512064" cy="518922"/>
          </a:xfrm>
          <a:prstGeom prst="ellipse">
            <a:avLst/>
          </a:prstGeom>
          <a:solidFill>
            <a:srgbClr val="9B59B6">
              <a:alpha val="88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60" name="Text 26"/>
          <p:cNvSpPr/>
          <p:nvPr/>
        </p:nvSpPr>
        <p:spPr>
          <a:xfrm>
            <a:off x="3200400" y="2468880"/>
            <a:ext cx="937260" cy="77952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048861" name="Text 27"/>
          <p:cNvSpPr/>
          <p:nvPr/>
        </p:nvSpPr>
        <p:spPr>
          <a:xfrm>
            <a:off x="4005072" y="2537460"/>
            <a:ext cx="1938528" cy="19065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Edit / Delete Task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pending tasks and edit or delete individual entries as priorities shift.</a:t>
            </a:r>
            <a:endParaRPr lang="en-US" sz="1100" dirty="0"/>
          </a:p>
        </p:txBody>
      </p:sp>
      <p:sp>
        <p:nvSpPr>
          <p:cNvPr id="1048862" name="Shape 28"/>
          <p:cNvSpPr/>
          <p:nvPr/>
        </p:nvSpPr>
        <p:spPr>
          <a:xfrm>
            <a:off x="6153912" y="2416302"/>
            <a:ext cx="2798064" cy="1229868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48863" name="Shape 29"/>
          <p:cNvSpPr/>
          <p:nvPr/>
        </p:nvSpPr>
        <p:spPr>
          <a:xfrm>
            <a:off x="6326124" y="2585466"/>
            <a:ext cx="512064" cy="502920"/>
          </a:xfrm>
          <a:prstGeom prst="ellipse">
            <a:avLst/>
          </a:prstGeom>
          <a:solidFill>
            <a:srgbClr val="E05050">
              <a:alpha val="88000"/>
            </a:srgbClr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64" name="Text 30"/>
          <p:cNvSpPr/>
          <p:nvPr/>
        </p:nvSpPr>
        <p:spPr>
          <a:xfrm>
            <a:off x="6326124" y="2551176"/>
            <a:ext cx="55016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048865" name="Text 31"/>
          <p:cNvSpPr/>
          <p:nvPr/>
        </p:nvSpPr>
        <p:spPr>
          <a:xfrm>
            <a:off x="6967728" y="2468880"/>
            <a:ext cx="1938528" cy="82981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task as done once finished — removes it from pending list and updates status.</a:t>
            </a:r>
            <a:endParaRPr lang="en-US" sz="1100" dirty="0"/>
          </a:p>
        </p:txBody>
      </p:sp>
      <p:sp>
        <p:nvSpPr>
          <p:cNvPr id="1048866" name="Shape 32"/>
          <p:cNvSpPr/>
          <p:nvPr/>
        </p:nvSpPr>
        <p:spPr>
          <a:xfrm>
            <a:off x="256032" y="3858768"/>
            <a:ext cx="8449056" cy="87782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867" name="Shape 33"/>
          <p:cNvSpPr/>
          <p:nvPr/>
        </p:nvSpPr>
        <p:spPr>
          <a:xfrm>
            <a:off x="384048" y="4014216"/>
            <a:ext cx="402336" cy="402336"/>
          </a:xfrm>
          <a:prstGeom prst="ellipse">
            <a:avLst/>
          </a:prstGeom>
          <a:solidFill>
            <a:srgbClr val="3AAFCC">
              <a:alpha val="88000"/>
            </a:srgbClr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68" name="Text 34"/>
          <p:cNvSpPr/>
          <p:nvPr/>
        </p:nvSpPr>
        <p:spPr>
          <a:xfrm>
            <a:off x="384048" y="4014216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048869" name="Text 35"/>
          <p:cNvSpPr/>
          <p:nvPr/>
        </p:nvSpPr>
        <p:spPr>
          <a:xfrm>
            <a:off x="877824" y="3968496"/>
            <a:ext cx="7909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Notification Time  —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daily alert time; system automatically emails pending task alerts to the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74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75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76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 — Use Case Diagram</a:t>
            </a:r>
            <a:endParaRPr lang="en-US" sz="2600" dirty="0"/>
          </a:p>
        </p:txBody>
      </p:sp>
      <p:sp>
        <p:nvSpPr>
          <p:cNvPr id="1048877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78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79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8880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048881" name="Shape 8"/>
          <p:cNvSpPr/>
          <p:nvPr/>
        </p:nvSpPr>
        <p:spPr>
          <a:xfrm>
            <a:off x="256032" y="987552"/>
            <a:ext cx="8631936" cy="3840480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882" name="Shape 9"/>
          <p:cNvSpPr/>
          <p:nvPr/>
        </p:nvSpPr>
        <p:spPr>
          <a:xfrm>
            <a:off x="256032" y="987552"/>
            <a:ext cx="8631936" cy="347472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83" name="Text 10"/>
          <p:cNvSpPr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1048884" name="Text 11"/>
          <p:cNvSpPr/>
          <p:nvPr/>
        </p:nvSpPr>
        <p:spPr>
          <a:xfrm>
            <a:off x="411480" y="1417320"/>
            <a:ext cx="83210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 Case Diagram shows what actions a user can perform in the system. It maps each feature to the user who uses it.</a:t>
            </a:r>
            <a:endParaRPr lang="en-US" sz="1200" dirty="0"/>
          </a:p>
        </p:txBody>
      </p:sp>
      <p:sp>
        <p:nvSpPr>
          <p:cNvPr id="1048885" name="Shape 12"/>
          <p:cNvSpPr/>
          <p:nvPr/>
        </p:nvSpPr>
        <p:spPr>
          <a:xfrm>
            <a:off x="411480" y="2183892"/>
            <a:ext cx="8321040" cy="2487168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86" name="Shape 13"/>
          <p:cNvSpPr/>
          <p:nvPr/>
        </p:nvSpPr>
        <p:spPr>
          <a:xfrm>
            <a:off x="556260" y="2482597"/>
            <a:ext cx="586740" cy="594360"/>
          </a:xfrm>
          <a:prstGeom prst="ellipse">
            <a:avLst/>
          </a:prstGeom>
          <a:solidFill>
            <a:srgbClr val="1A2E6B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87" name="Text 14"/>
          <p:cNvSpPr/>
          <p:nvPr/>
        </p:nvSpPr>
        <p:spPr>
          <a:xfrm>
            <a:off x="502920" y="3145536"/>
            <a:ext cx="777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048888" name="Shape 15"/>
          <p:cNvSpPr/>
          <p:nvPr/>
        </p:nvSpPr>
        <p:spPr>
          <a:xfrm>
            <a:off x="1493520" y="2212846"/>
            <a:ext cx="1554480" cy="417579"/>
          </a:xfrm>
          <a:prstGeom prst="ellipse">
            <a:avLst/>
          </a:prstGeom>
          <a:solidFill>
            <a:srgbClr val="1A2E6B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89" name="Text 16"/>
          <p:cNvSpPr/>
          <p:nvPr/>
        </p:nvSpPr>
        <p:spPr>
          <a:xfrm>
            <a:off x="1508760" y="2137396"/>
            <a:ext cx="1554480" cy="6240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1048890" name="Shape 17"/>
          <p:cNvSpPr/>
          <p:nvPr/>
        </p:nvSpPr>
        <p:spPr>
          <a:xfrm>
            <a:off x="1143000" y="2807208"/>
            <a:ext cx="365760" cy="0"/>
          </a:xfrm>
          <a:prstGeom prst="line">
            <a:avLst/>
          </a:prstGeom>
          <a:noFill/>
          <a:ln w="12700">
            <a:solidFill>
              <a:srgbClr val="7A8B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91" name="Shape 18"/>
          <p:cNvSpPr/>
          <p:nvPr/>
        </p:nvSpPr>
        <p:spPr>
          <a:xfrm>
            <a:off x="3212592" y="2221150"/>
            <a:ext cx="1554480" cy="411480"/>
          </a:xfrm>
          <a:prstGeom prst="ellipse">
            <a:avLst/>
          </a:prstGeom>
          <a:solidFill>
            <a:srgbClr val="1A2E6B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92" name="Text 19"/>
          <p:cNvSpPr/>
          <p:nvPr/>
        </p:nvSpPr>
        <p:spPr>
          <a:xfrm>
            <a:off x="3227832" y="2075688"/>
            <a:ext cx="1554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000" dirty="0"/>
          </a:p>
        </p:txBody>
      </p:sp>
      <p:sp>
        <p:nvSpPr>
          <p:cNvPr id="1048893" name="Shape 21"/>
          <p:cNvSpPr/>
          <p:nvPr/>
        </p:nvSpPr>
        <p:spPr>
          <a:xfrm>
            <a:off x="5024628" y="2304288"/>
            <a:ext cx="1554480" cy="361188"/>
          </a:xfrm>
          <a:prstGeom prst="ellipse">
            <a:avLst/>
          </a:prstGeom>
          <a:solidFill>
            <a:srgbClr val="1A2E6B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94" name="Text 22"/>
          <p:cNvSpPr/>
          <p:nvPr/>
        </p:nvSpPr>
        <p:spPr>
          <a:xfrm>
            <a:off x="4946904" y="2221992"/>
            <a:ext cx="1554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</a:t>
            </a:r>
            <a:endParaRPr lang="en-US" sz="1000" dirty="0"/>
          </a:p>
        </p:txBody>
      </p:sp>
      <p:sp>
        <p:nvSpPr>
          <p:cNvPr id="1048895" name="Shape 24"/>
          <p:cNvSpPr/>
          <p:nvPr/>
        </p:nvSpPr>
        <p:spPr>
          <a:xfrm>
            <a:off x="6693265" y="2272287"/>
            <a:ext cx="1554480" cy="548640"/>
          </a:xfrm>
          <a:prstGeom prst="ellipse">
            <a:avLst/>
          </a:prstGeom>
          <a:solidFill>
            <a:srgbClr val="1A2E6B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48896" name="Text 25"/>
          <p:cNvSpPr/>
          <p:nvPr/>
        </p:nvSpPr>
        <p:spPr>
          <a:xfrm>
            <a:off x="6665976" y="2304288"/>
            <a:ext cx="1554480" cy="4937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Delete Task</a:t>
            </a:r>
            <a:endParaRPr lang="en-US" sz="1000" dirty="0"/>
          </a:p>
        </p:txBody>
      </p:sp>
      <p:sp>
        <p:nvSpPr>
          <p:cNvPr id="1048897" name="Shape 26"/>
          <p:cNvSpPr/>
          <p:nvPr/>
        </p:nvSpPr>
        <p:spPr>
          <a:xfrm flipV="1">
            <a:off x="1094994" y="2766055"/>
            <a:ext cx="5890260" cy="3657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048898" name="Shape 27"/>
          <p:cNvSpPr/>
          <p:nvPr/>
        </p:nvSpPr>
        <p:spPr>
          <a:xfrm>
            <a:off x="1508760" y="3511296"/>
            <a:ext cx="1554480" cy="548640"/>
          </a:xfrm>
          <a:prstGeom prst="ellipse">
            <a:avLst/>
          </a:prstGeom>
          <a:solidFill>
            <a:srgbClr val="1A2E6B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899" name="Text 28"/>
          <p:cNvSpPr/>
          <p:nvPr/>
        </p:nvSpPr>
        <p:spPr>
          <a:xfrm>
            <a:off x="1508760" y="3511296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</a:t>
            </a:r>
            <a:endParaRPr lang="en-US" sz="1000" dirty="0"/>
          </a:p>
        </p:txBody>
      </p:sp>
      <p:sp>
        <p:nvSpPr>
          <p:cNvPr id="1048900" name="Shape 29"/>
          <p:cNvSpPr/>
          <p:nvPr/>
        </p:nvSpPr>
        <p:spPr>
          <a:xfrm>
            <a:off x="1143000" y="2807208"/>
            <a:ext cx="365760" cy="9784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048901" name="Shape 30"/>
          <p:cNvSpPr/>
          <p:nvPr/>
        </p:nvSpPr>
        <p:spPr>
          <a:xfrm>
            <a:off x="3227832" y="3511296"/>
            <a:ext cx="1554480" cy="548640"/>
          </a:xfrm>
          <a:prstGeom prst="ellipse">
            <a:avLst/>
          </a:prstGeom>
          <a:solidFill>
            <a:srgbClr val="1A2E6B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02" name="Text 31"/>
          <p:cNvSpPr/>
          <p:nvPr/>
        </p:nvSpPr>
        <p:spPr>
          <a:xfrm>
            <a:off x="3227832" y="3511296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Notification</a:t>
            </a:r>
            <a:endParaRPr lang="en-US" sz="1000" dirty="0"/>
          </a:p>
        </p:txBody>
      </p:sp>
      <p:sp>
        <p:nvSpPr>
          <p:cNvPr id="1048903" name="Shape 32"/>
          <p:cNvSpPr/>
          <p:nvPr/>
        </p:nvSpPr>
        <p:spPr>
          <a:xfrm>
            <a:off x="1143000" y="2807208"/>
            <a:ext cx="2084832" cy="9784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048904" name="Shape 33"/>
          <p:cNvSpPr/>
          <p:nvPr/>
        </p:nvSpPr>
        <p:spPr>
          <a:xfrm>
            <a:off x="4946904" y="3511296"/>
            <a:ext cx="1554480" cy="548640"/>
          </a:xfrm>
          <a:prstGeom prst="ellipse">
            <a:avLst/>
          </a:prstGeom>
          <a:solidFill>
            <a:srgbClr val="1A2E6B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05" name="Text 34"/>
          <p:cNvSpPr/>
          <p:nvPr/>
        </p:nvSpPr>
        <p:spPr>
          <a:xfrm>
            <a:off x="4946904" y="3511296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</a:t>
            </a:r>
            <a:endParaRPr lang="en-US" sz="1000" dirty="0"/>
          </a:p>
        </p:txBody>
      </p:sp>
      <p:sp>
        <p:nvSpPr>
          <p:cNvPr id="1048906" name="Shape 35"/>
          <p:cNvSpPr/>
          <p:nvPr/>
        </p:nvSpPr>
        <p:spPr>
          <a:xfrm>
            <a:off x="1143000" y="2807208"/>
            <a:ext cx="3803904" cy="9784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048907" name="Text 36"/>
          <p:cNvSpPr/>
          <p:nvPr/>
        </p:nvSpPr>
        <p:spPr>
          <a:xfrm>
            <a:off x="1371600" y="4526280"/>
            <a:ext cx="6400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Boundary: Task Scheduler</a:t>
            </a:r>
            <a:endParaRPr lang="en-US" sz="900" dirty="0"/>
          </a:p>
        </p:txBody>
      </p:sp>
      <p:cxnSp>
        <p:nvCxnSpPr>
          <p:cNvPr id="3145728" name="Straight Connector 39"/>
          <p:cNvCxnSpPr>
            <a:cxnSpLocks/>
            <a:stCxn id="1048886" idx="6"/>
            <a:endCxn id="1048888" idx="2"/>
          </p:cNvCxnSpPr>
          <p:nvPr/>
        </p:nvCxnSpPr>
        <p:spPr>
          <a:xfrm flipV="1">
            <a:off x="1143000" y="2421636"/>
            <a:ext cx="350520" cy="35814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45729" name="Straight Connector 43"/>
          <p:cNvCxnSpPr>
            <a:cxnSpLocks/>
            <a:stCxn id="1048906" idx="0"/>
            <a:endCxn id="1048891" idx="3"/>
          </p:cNvCxnSpPr>
          <p:nvPr/>
        </p:nvCxnSpPr>
        <p:spPr>
          <a:xfrm flipV="1">
            <a:off x="1143000" y="2572370"/>
            <a:ext cx="2297240" cy="23483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45730" name="Straight Connector 45"/>
          <p:cNvCxnSpPr>
            <a:cxnSpLocks/>
            <a:endCxn id="1048893" idx="3"/>
          </p:cNvCxnSpPr>
          <p:nvPr/>
        </p:nvCxnSpPr>
        <p:spPr>
          <a:xfrm flipV="1">
            <a:off x="1189386" y="2612581"/>
            <a:ext cx="4062890" cy="2024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1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12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13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14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 — Class Diagram</a:t>
            </a:r>
            <a:endParaRPr lang="en-US" sz="2600" dirty="0"/>
          </a:p>
        </p:txBody>
      </p:sp>
      <p:sp>
        <p:nvSpPr>
          <p:cNvPr id="1048915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16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17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8918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48919" name="Shape 8"/>
          <p:cNvSpPr/>
          <p:nvPr/>
        </p:nvSpPr>
        <p:spPr>
          <a:xfrm>
            <a:off x="256032" y="987552"/>
            <a:ext cx="8631936" cy="3840480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920" name="Shape 9"/>
          <p:cNvSpPr/>
          <p:nvPr/>
        </p:nvSpPr>
        <p:spPr>
          <a:xfrm>
            <a:off x="256032" y="987552"/>
            <a:ext cx="8631936" cy="347472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21" name="Text 10"/>
          <p:cNvSpPr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200" dirty="0"/>
          </a:p>
        </p:txBody>
      </p:sp>
      <p:sp>
        <p:nvSpPr>
          <p:cNvPr id="1048922" name="Text 11"/>
          <p:cNvSpPr/>
          <p:nvPr/>
        </p:nvSpPr>
        <p:spPr>
          <a:xfrm>
            <a:off x="411480" y="1417320"/>
            <a:ext cx="8321040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Diagram shows the data and actions for each part of the system. Classes are connected by relationships like ownership or inheritance.</a:t>
            </a:r>
            <a:endParaRPr lang="en-US" sz="1200" dirty="0"/>
          </a:p>
        </p:txBody>
      </p:sp>
      <p:sp>
        <p:nvSpPr>
          <p:cNvPr id="1048923" name="Shape 12"/>
          <p:cNvSpPr/>
          <p:nvPr/>
        </p:nvSpPr>
        <p:spPr>
          <a:xfrm>
            <a:off x="347472" y="2212848"/>
            <a:ext cx="1993392" cy="2395728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24" name="Shape 13"/>
          <p:cNvSpPr/>
          <p:nvPr/>
        </p:nvSpPr>
        <p:spPr>
          <a:xfrm>
            <a:off x="347472" y="2212848"/>
            <a:ext cx="1993392" cy="32918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25" name="Text 14"/>
          <p:cNvSpPr/>
          <p:nvPr/>
        </p:nvSpPr>
        <p:spPr>
          <a:xfrm>
            <a:off x="347472" y="2212848"/>
            <a:ext cx="19933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048926" name="Shape 15"/>
          <p:cNvSpPr/>
          <p:nvPr/>
        </p:nvSpPr>
        <p:spPr>
          <a:xfrm>
            <a:off x="347472" y="2542032"/>
            <a:ext cx="1993392" cy="0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27" name="Text 16"/>
          <p:cNvSpPr/>
          <p:nvPr/>
        </p:nvSpPr>
        <p:spPr>
          <a:xfrm>
            <a:off x="402336" y="2578608"/>
            <a:ext cx="1883664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userId: int
- name: String
- email: String
- password: String (encrypted)
</a:t>
            </a:r>
            <a:endParaRPr lang="en-US" sz="900" dirty="0"/>
          </a:p>
        </p:txBody>
      </p:sp>
      <p:sp>
        <p:nvSpPr>
          <p:cNvPr id="1048928" name="Shape 17"/>
          <p:cNvSpPr/>
          <p:nvPr/>
        </p:nvSpPr>
        <p:spPr>
          <a:xfrm>
            <a:off x="347472" y="3602736"/>
            <a:ext cx="1993392" cy="0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29" name="Text 18"/>
          <p:cNvSpPr/>
          <p:nvPr/>
        </p:nvSpPr>
        <p:spPr>
          <a:xfrm>
            <a:off x="402336" y="3639312"/>
            <a:ext cx="1883664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login()
+ register()
+ resetPassword()
</a:t>
            </a:r>
            <a:endParaRPr lang="en-US" sz="900" dirty="0"/>
          </a:p>
        </p:txBody>
      </p:sp>
      <p:sp>
        <p:nvSpPr>
          <p:cNvPr id="1048930" name="Shape 19"/>
          <p:cNvSpPr/>
          <p:nvPr/>
        </p:nvSpPr>
        <p:spPr>
          <a:xfrm>
            <a:off x="2523744" y="2212848"/>
            <a:ext cx="1993392" cy="2395728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31" name="Shape 20"/>
          <p:cNvSpPr/>
          <p:nvPr/>
        </p:nvSpPr>
        <p:spPr>
          <a:xfrm>
            <a:off x="2523744" y="2212848"/>
            <a:ext cx="1993392" cy="32918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32" name="Text 21"/>
          <p:cNvSpPr/>
          <p:nvPr/>
        </p:nvSpPr>
        <p:spPr>
          <a:xfrm>
            <a:off x="2523744" y="2212848"/>
            <a:ext cx="19933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1048933" name="Shape 22"/>
          <p:cNvSpPr/>
          <p:nvPr/>
        </p:nvSpPr>
        <p:spPr>
          <a:xfrm>
            <a:off x="2523744" y="2542032"/>
            <a:ext cx="1993392" cy="0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34" name="Text 23"/>
          <p:cNvSpPr/>
          <p:nvPr/>
        </p:nvSpPr>
        <p:spPr>
          <a:xfrm>
            <a:off x="2578608" y="2578608"/>
            <a:ext cx="1883664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taskId: int
- title: String
- description: String
- dueDate: DateTime
</a:t>
            </a:r>
            <a:endParaRPr lang="en-US" sz="900" dirty="0"/>
          </a:p>
        </p:txBody>
      </p:sp>
      <p:sp>
        <p:nvSpPr>
          <p:cNvPr id="1048935" name="Shape 24"/>
          <p:cNvSpPr/>
          <p:nvPr/>
        </p:nvSpPr>
        <p:spPr>
          <a:xfrm>
            <a:off x="2523744" y="3602736"/>
            <a:ext cx="1993392" cy="0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36" name="Text 25"/>
          <p:cNvSpPr/>
          <p:nvPr/>
        </p:nvSpPr>
        <p:spPr>
          <a:xfrm>
            <a:off x="2578608" y="3639312"/>
            <a:ext cx="1883664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create()
+ edit()
+ delete()
+ markComplete()
</a:t>
            </a:r>
            <a:endParaRPr lang="en-US" sz="900" dirty="0"/>
          </a:p>
        </p:txBody>
      </p:sp>
      <p:sp>
        <p:nvSpPr>
          <p:cNvPr id="1048937" name="Shape 26"/>
          <p:cNvSpPr/>
          <p:nvPr/>
        </p:nvSpPr>
        <p:spPr>
          <a:xfrm>
            <a:off x="4700016" y="2212848"/>
            <a:ext cx="1993392" cy="2395728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38" name="Shape 27"/>
          <p:cNvSpPr/>
          <p:nvPr/>
        </p:nvSpPr>
        <p:spPr>
          <a:xfrm>
            <a:off x="4700016" y="2212848"/>
            <a:ext cx="1993392" cy="32918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39" name="Text 28"/>
          <p:cNvSpPr/>
          <p:nvPr/>
        </p:nvSpPr>
        <p:spPr>
          <a:xfrm>
            <a:off x="4700016" y="2212848"/>
            <a:ext cx="19933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1048940" name="Shape 29"/>
          <p:cNvSpPr/>
          <p:nvPr/>
        </p:nvSpPr>
        <p:spPr>
          <a:xfrm>
            <a:off x="4700016" y="2542032"/>
            <a:ext cx="1993392" cy="0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41" name="Text 30"/>
          <p:cNvSpPr/>
          <p:nvPr/>
        </p:nvSpPr>
        <p:spPr>
          <a:xfrm>
            <a:off x="4754880" y="2578608"/>
            <a:ext cx="1883664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notifId: int
- userId: int
- alertTime: Time
</a:t>
            </a:r>
            <a:endParaRPr lang="en-US" sz="900" dirty="0"/>
          </a:p>
        </p:txBody>
      </p:sp>
      <p:sp>
        <p:nvSpPr>
          <p:cNvPr id="1048942" name="Shape 31"/>
          <p:cNvSpPr/>
          <p:nvPr/>
        </p:nvSpPr>
        <p:spPr>
          <a:xfrm>
            <a:off x="4700016" y="3602736"/>
            <a:ext cx="1993392" cy="0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43" name="Text 32"/>
          <p:cNvSpPr/>
          <p:nvPr/>
        </p:nvSpPr>
        <p:spPr>
          <a:xfrm>
            <a:off x="4754880" y="3639312"/>
            <a:ext cx="1883664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setTime()
+ sendEmail()
</a:t>
            </a:r>
            <a:endParaRPr lang="en-US" sz="900" dirty="0"/>
          </a:p>
        </p:txBody>
      </p:sp>
      <p:sp>
        <p:nvSpPr>
          <p:cNvPr id="1048944" name="Shape 33"/>
          <p:cNvSpPr/>
          <p:nvPr/>
        </p:nvSpPr>
        <p:spPr>
          <a:xfrm>
            <a:off x="6876288" y="2212848"/>
            <a:ext cx="1993392" cy="2395728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45" name="Shape 34"/>
          <p:cNvSpPr/>
          <p:nvPr/>
        </p:nvSpPr>
        <p:spPr>
          <a:xfrm>
            <a:off x="6876288" y="2212848"/>
            <a:ext cx="1993392" cy="32918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46" name="Text 35"/>
          <p:cNvSpPr/>
          <p:nvPr/>
        </p:nvSpPr>
        <p:spPr>
          <a:xfrm>
            <a:off x="6876288" y="2212848"/>
            <a:ext cx="19933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200" dirty="0"/>
          </a:p>
        </p:txBody>
      </p:sp>
      <p:sp>
        <p:nvSpPr>
          <p:cNvPr id="1048947" name="Shape 36"/>
          <p:cNvSpPr/>
          <p:nvPr/>
        </p:nvSpPr>
        <p:spPr>
          <a:xfrm>
            <a:off x="6876288" y="2542032"/>
            <a:ext cx="1993392" cy="0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48" name="Text 37"/>
          <p:cNvSpPr/>
          <p:nvPr/>
        </p:nvSpPr>
        <p:spPr>
          <a:xfrm>
            <a:off x="6931152" y="2578608"/>
            <a:ext cx="1883664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schedId: int
- tasks: List&lt;Task&gt;
</a:t>
            </a:r>
            <a:endParaRPr lang="en-US" sz="900" dirty="0"/>
          </a:p>
        </p:txBody>
      </p:sp>
      <p:sp>
        <p:nvSpPr>
          <p:cNvPr id="1048949" name="Shape 38"/>
          <p:cNvSpPr/>
          <p:nvPr/>
        </p:nvSpPr>
        <p:spPr>
          <a:xfrm>
            <a:off x="6876288" y="3602736"/>
            <a:ext cx="1993392" cy="0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50" name="Text 39"/>
          <p:cNvSpPr/>
          <p:nvPr/>
        </p:nvSpPr>
        <p:spPr>
          <a:xfrm>
            <a:off x="6931152" y="3639312"/>
            <a:ext cx="1883664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run()
+ prioritize()
+ checkDue()
</a:t>
            </a:r>
            <a:endParaRPr lang="en-US" sz="900" dirty="0"/>
          </a:p>
        </p:txBody>
      </p:sp>
      <p:sp>
        <p:nvSpPr>
          <p:cNvPr id="1048951" name="Text 40"/>
          <p:cNvSpPr/>
          <p:nvPr/>
        </p:nvSpPr>
        <p:spPr>
          <a:xfrm>
            <a:off x="274320" y="4709160"/>
            <a:ext cx="8595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→  has many →  Task   |   User  →  has →  Notification   |   Scheduler  →  manages →  Task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5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56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57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58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 — Sequence Diagram</a:t>
            </a:r>
            <a:endParaRPr lang="en-US" sz="2600" dirty="0"/>
          </a:p>
        </p:txBody>
      </p:sp>
      <p:sp>
        <p:nvSpPr>
          <p:cNvPr id="1048959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60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61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8962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048963" name="Shape 8"/>
          <p:cNvSpPr/>
          <p:nvPr/>
        </p:nvSpPr>
        <p:spPr>
          <a:xfrm>
            <a:off x="256032" y="987552"/>
            <a:ext cx="8631936" cy="3840480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8964" name="Shape 9"/>
          <p:cNvSpPr/>
          <p:nvPr/>
        </p:nvSpPr>
        <p:spPr>
          <a:xfrm>
            <a:off x="256032" y="987552"/>
            <a:ext cx="8631936" cy="347472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65" name="Text 10"/>
          <p:cNvSpPr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200" dirty="0"/>
          </a:p>
        </p:txBody>
      </p:sp>
      <p:sp>
        <p:nvSpPr>
          <p:cNvPr id="1048966" name="Text 11"/>
          <p:cNvSpPr/>
          <p:nvPr/>
        </p:nvSpPr>
        <p:spPr>
          <a:xfrm>
            <a:off x="411480" y="1417320"/>
            <a:ext cx="8321040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Diagram shows the step-by-step messages between the user, browser, server, and database during login.</a:t>
            </a:r>
            <a:endParaRPr lang="en-US" sz="1200" dirty="0"/>
          </a:p>
        </p:txBody>
      </p:sp>
      <p:sp>
        <p:nvSpPr>
          <p:cNvPr id="1048967" name="Shape 12"/>
          <p:cNvSpPr/>
          <p:nvPr/>
        </p:nvSpPr>
        <p:spPr>
          <a:xfrm>
            <a:off x="274320" y="2148840"/>
            <a:ext cx="1097280" cy="329184"/>
          </a:xfrm>
          <a:prstGeom prst="rect">
            <a:avLst/>
          </a:prstGeom>
          <a:solidFill>
            <a:srgbClr val="1A2E6B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68" name="Text 13"/>
          <p:cNvSpPr/>
          <p:nvPr/>
        </p:nvSpPr>
        <p:spPr>
          <a:xfrm>
            <a:off x="274320" y="2148840"/>
            <a:ext cx="1097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048969" name="Shape 14"/>
          <p:cNvSpPr/>
          <p:nvPr/>
        </p:nvSpPr>
        <p:spPr>
          <a:xfrm>
            <a:off x="822960" y="2478024"/>
            <a:ext cx="0" cy="2240280"/>
          </a:xfrm>
          <a:prstGeom prst="line">
            <a:avLst/>
          </a:prstGeom>
          <a:noFill/>
          <a:ln w="12700">
            <a:solidFill>
              <a:srgbClr val="7A8BA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48970" name="Shape 15"/>
          <p:cNvSpPr/>
          <p:nvPr/>
        </p:nvSpPr>
        <p:spPr>
          <a:xfrm>
            <a:off x="2148840" y="2148840"/>
            <a:ext cx="1097280" cy="329184"/>
          </a:xfrm>
          <a:prstGeom prst="rect">
            <a:avLst/>
          </a:prstGeom>
          <a:solidFill>
            <a:srgbClr val="1A2E6B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71" name="Text 16"/>
          <p:cNvSpPr/>
          <p:nvPr/>
        </p:nvSpPr>
        <p:spPr>
          <a:xfrm>
            <a:off x="2148840" y="2148840"/>
            <a:ext cx="1097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50" dirty="0"/>
          </a:p>
        </p:txBody>
      </p:sp>
      <p:sp>
        <p:nvSpPr>
          <p:cNvPr id="1048972" name="Shape 17"/>
          <p:cNvSpPr/>
          <p:nvPr/>
        </p:nvSpPr>
        <p:spPr>
          <a:xfrm>
            <a:off x="2697480" y="2478024"/>
            <a:ext cx="0" cy="2240280"/>
          </a:xfrm>
          <a:prstGeom prst="line">
            <a:avLst/>
          </a:prstGeom>
          <a:noFill/>
          <a:ln w="12700">
            <a:solidFill>
              <a:srgbClr val="7A8BA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48973" name="Shape 18"/>
          <p:cNvSpPr/>
          <p:nvPr/>
        </p:nvSpPr>
        <p:spPr>
          <a:xfrm>
            <a:off x="4389120" y="2148840"/>
            <a:ext cx="1097280" cy="329184"/>
          </a:xfrm>
          <a:prstGeom prst="rect">
            <a:avLst/>
          </a:prstGeom>
          <a:solidFill>
            <a:srgbClr val="1A2E6B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74" name="Text 19"/>
          <p:cNvSpPr/>
          <p:nvPr/>
        </p:nvSpPr>
        <p:spPr>
          <a:xfrm>
            <a:off x="4389120" y="2148840"/>
            <a:ext cx="1097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Server</a:t>
            </a:r>
            <a:endParaRPr lang="en-US" sz="950" dirty="0"/>
          </a:p>
        </p:txBody>
      </p:sp>
      <p:sp>
        <p:nvSpPr>
          <p:cNvPr id="1048975" name="Shape 20"/>
          <p:cNvSpPr/>
          <p:nvPr/>
        </p:nvSpPr>
        <p:spPr>
          <a:xfrm>
            <a:off x="4937760" y="2478024"/>
            <a:ext cx="0" cy="2240280"/>
          </a:xfrm>
          <a:prstGeom prst="line">
            <a:avLst/>
          </a:prstGeom>
          <a:noFill/>
          <a:ln w="12700">
            <a:solidFill>
              <a:srgbClr val="7A8BA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48976" name="Shape 21"/>
          <p:cNvSpPr/>
          <p:nvPr/>
        </p:nvSpPr>
        <p:spPr>
          <a:xfrm>
            <a:off x="7086600" y="2148840"/>
            <a:ext cx="1097280" cy="329184"/>
          </a:xfrm>
          <a:prstGeom prst="rect">
            <a:avLst/>
          </a:prstGeom>
          <a:solidFill>
            <a:srgbClr val="1A2E6B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77" name="Text 22"/>
          <p:cNvSpPr/>
          <p:nvPr/>
        </p:nvSpPr>
        <p:spPr>
          <a:xfrm>
            <a:off x="7086600" y="2148840"/>
            <a:ext cx="1097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DB</a:t>
            </a:r>
            <a:endParaRPr lang="en-US" sz="950" dirty="0"/>
          </a:p>
        </p:txBody>
      </p:sp>
      <p:sp>
        <p:nvSpPr>
          <p:cNvPr id="1048978" name="Shape 23"/>
          <p:cNvSpPr/>
          <p:nvPr/>
        </p:nvSpPr>
        <p:spPr>
          <a:xfrm>
            <a:off x="7635240" y="2478024"/>
            <a:ext cx="0" cy="2240280"/>
          </a:xfrm>
          <a:prstGeom prst="line">
            <a:avLst/>
          </a:prstGeom>
          <a:noFill/>
          <a:ln w="12700">
            <a:solidFill>
              <a:srgbClr val="7A8BA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48979" name="Shape 24"/>
          <p:cNvSpPr/>
          <p:nvPr/>
        </p:nvSpPr>
        <p:spPr>
          <a:xfrm>
            <a:off x="822960" y="2651760"/>
            <a:ext cx="187452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80" name="Text 25"/>
          <p:cNvSpPr/>
          <p:nvPr/>
        </p:nvSpPr>
        <p:spPr>
          <a:xfrm>
            <a:off x="1303020" y="248716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Login Details</a:t>
            </a:r>
            <a:endParaRPr lang="en-US" sz="900" dirty="0"/>
          </a:p>
        </p:txBody>
      </p:sp>
      <p:sp>
        <p:nvSpPr>
          <p:cNvPr id="1048981" name="Shape 26"/>
          <p:cNvSpPr/>
          <p:nvPr/>
        </p:nvSpPr>
        <p:spPr>
          <a:xfrm>
            <a:off x="2697480" y="2926080"/>
            <a:ext cx="224028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82" name="Text 27"/>
          <p:cNvSpPr/>
          <p:nvPr/>
        </p:nvSpPr>
        <p:spPr>
          <a:xfrm>
            <a:off x="3360420" y="276148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</a:t>
            </a:r>
            <a:endParaRPr lang="en-US" sz="900" dirty="0"/>
          </a:p>
        </p:txBody>
      </p:sp>
      <p:sp>
        <p:nvSpPr>
          <p:cNvPr id="1048983" name="Shape 28"/>
          <p:cNvSpPr/>
          <p:nvPr/>
        </p:nvSpPr>
        <p:spPr>
          <a:xfrm>
            <a:off x="4937760" y="3200400"/>
            <a:ext cx="269748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84" name="Text 29"/>
          <p:cNvSpPr/>
          <p:nvPr/>
        </p:nvSpPr>
        <p:spPr>
          <a:xfrm>
            <a:off x="5829300" y="303580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user WHERE email=?</a:t>
            </a:r>
            <a:endParaRPr lang="en-US" sz="900" dirty="0"/>
          </a:p>
        </p:txBody>
      </p:sp>
      <p:sp>
        <p:nvSpPr>
          <p:cNvPr id="1048985" name="Shape 30"/>
          <p:cNvSpPr/>
          <p:nvPr/>
        </p:nvSpPr>
        <p:spPr>
          <a:xfrm>
            <a:off x="4937760" y="3474720"/>
            <a:ext cx="269748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86" name="Text 31"/>
          <p:cNvSpPr/>
          <p:nvPr/>
        </p:nvSpPr>
        <p:spPr>
          <a:xfrm>
            <a:off x="5829300" y="331012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user record</a:t>
            </a:r>
            <a:endParaRPr lang="en-US" sz="900" dirty="0"/>
          </a:p>
        </p:txBody>
      </p:sp>
      <p:sp>
        <p:nvSpPr>
          <p:cNvPr id="1048987" name="Shape 32"/>
          <p:cNvSpPr/>
          <p:nvPr/>
        </p:nvSpPr>
        <p:spPr>
          <a:xfrm>
            <a:off x="2697480" y="3749040"/>
            <a:ext cx="224028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88" name="Text 33"/>
          <p:cNvSpPr/>
          <p:nvPr/>
        </p:nvSpPr>
        <p:spPr>
          <a:xfrm>
            <a:off x="3360420" y="358444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created, redirect</a:t>
            </a:r>
            <a:endParaRPr lang="en-US" sz="900" dirty="0"/>
          </a:p>
        </p:txBody>
      </p:sp>
      <p:sp>
        <p:nvSpPr>
          <p:cNvPr id="1048989" name="Shape 34"/>
          <p:cNvSpPr/>
          <p:nvPr/>
        </p:nvSpPr>
        <p:spPr>
          <a:xfrm>
            <a:off x="822960" y="4023360"/>
            <a:ext cx="187452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90" name="Text 35"/>
          <p:cNvSpPr/>
          <p:nvPr/>
        </p:nvSpPr>
        <p:spPr>
          <a:xfrm>
            <a:off x="1303020" y="385876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displayed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4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95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96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97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 — Activity Diagram</a:t>
            </a:r>
            <a:endParaRPr lang="en-US" sz="2600" dirty="0"/>
          </a:p>
        </p:txBody>
      </p:sp>
      <p:sp>
        <p:nvSpPr>
          <p:cNvPr id="1048998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8999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00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9001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049002" name="Shape 8"/>
          <p:cNvSpPr/>
          <p:nvPr/>
        </p:nvSpPr>
        <p:spPr>
          <a:xfrm>
            <a:off x="256032" y="987552"/>
            <a:ext cx="8631936" cy="3840480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9003" name="Shape 9"/>
          <p:cNvSpPr/>
          <p:nvPr/>
        </p:nvSpPr>
        <p:spPr>
          <a:xfrm>
            <a:off x="256032" y="987552"/>
            <a:ext cx="8631936" cy="347472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04" name="Text 10"/>
          <p:cNvSpPr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200" dirty="0"/>
          </a:p>
        </p:txBody>
      </p:sp>
      <p:sp>
        <p:nvSpPr>
          <p:cNvPr id="1049005" name="Text 11"/>
          <p:cNvSpPr/>
          <p:nvPr/>
        </p:nvSpPr>
        <p:spPr>
          <a:xfrm>
            <a:off x="411480" y="1417320"/>
            <a:ext cx="832104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Diagram shows the flow of actions from login to task completion, including decision steps.</a:t>
            </a:r>
            <a:endParaRPr lang="en-US" sz="1200" dirty="0"/>
          </a:p>
        </p:txBody>
      </p:sp>
      <p:sp>
        <p:nvSpPr>
          <p:cNvPr id="1049006" name="Shape 12"/>
          <p:cNvSpPr/>
          <p:nvPr/>
        </p:nvSpPr>
        <p:spPr>
          <a:xfrm>
            <a:off x="201168" y="2542032"/>
            <a:ext cx="402336" cy="40233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07" name="Text 13"/>
          <p:cNvSpPr/>
          <p:nvPr/>
        </p:nvSpPr>
        <p:spPr>
          <a:xfrm>
            <a:off x="109728" y="2999232"/>
            <a:ext cx="5852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00" dirty="0"/>
          </a:p>
        </p:txBody>
      </p:sp>
      <p:sp>
        <p:nvSpPr>
          <p:cNvPr id="1049008" name="Shape 14"/>
          <p:cNvSpPr/>
          <p:nvPr/>
        </p:nvSpPr>
        <p:spPr>
          <a:xfrm>
            <a:off x="585216" y="2743200"/>
            <a:ext cx="329184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09" name="Shape 15"/>
          <p:cNvSpPr/>
          <p:nvPr/>
        </p:nvSpPr>
        <p:spPr>
          <a:xfrm>
            <a:off x="914400" y="2523744"/>
            <a:ext cx="914400" cy="438912"/>
          </a:xfrm>
          <a:prstGeom prst="rect">
            <a:avLst/>
          </a:prstGeom>
          <a:solidFill>
            <a:srgbClr val="1A2E6B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10" name="Text 16"/>
          <p:cNvSpPr/>
          <p:nvPr/>
        </p:nvSpPr>
        <p:spPr>
          <a:xfrm>
            <a:off x="914400" y="2523744"/>
            <a:ext cx="9144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850" dirty="0"/>
          </a:p>
        </p:txBody>
      </p:sp>
      <p:sp>
        <p:nvSpPr>
          <p:cNvPr id="1049011" name="Shape 17"/>
          <p:cNvSpPr/>
          <p:nvPr/>
        </p:nvSpPr>
        <p:spPr>
          <a:xfrm>
            <a:off x="1828800" y="2743200"/>
            <a:ext cx="22860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12" name="Shape 18"/>
          <p:cNvSpPr/>
          <p:nvPr/>
        </p:nvSpPr>
        <p:spPr>
          <a:xfrm>
            <a:off x="2057400" y="2523744"/>
            <a:ext cx="914400" cy="438912"/>
          </a:xfrm>
          <a:prstGeom prst="rect">
            <a:avLst/>
          </a:prstGeom>
          <a:solidFill>
            <a:srgbClr val="1A2E6B"/>
          </a:solidFill>
          <a:ln w="12700">
            <a:solidFill>
              <a:srgbClr val="3AAF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13" name="Text 19"/>
          <p:cNvSpPr/>
          <p:nvPr/>
        </p:nvSpPr>
        <p:spPr>
          <a:xfrm>
            <a:off x="2057400" y="2523744"/>
            <a:ext cx="9144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049014" name="Shape 20"/>
          <p:cNvSpPr/>
          <p:nvPr/>
        </p:nvSpPr>
        <p:spPr>
          <a:xfrm>
            <a:off x="2971800" y="2743200"/>
            <a:ext cx="27432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15" name="Shape 21"/>
          <p:cNvSpPr/>
          <p:nvPr/>
        </p:nvSpPr>
        <p:spPr>
          <a:xfrm>
            <a:off x="3246120" y="2523744"/>
            <a:ext cx="914400" cy="438912"/>
          </a:xfrm>
          <a:prstGeom prst="rect">
            <a:avLst/>
          </a:prstGeom>
          <a:solidFill>
            <a:srgbClr val="1A2E6B"/>
          </a:solidFill>
          <a:ln w="12700">
            <a:solidFill>
              <a:srgbClr val="3CB9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16" name="Text 22"/>
          <p:cNvSpPr/>
          <p:nvPr/>
        </p:nvSpPr>
        <p:spPr>
          <a:xfrm>
            <a:off x="3246120" y="2523744"/>
            <a:ext cx="9144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</a:t>
            </a:r>
            <a:endParaRPr lang="en-US" sz="850" dirty="0"/>
          </a:p>
        </p:txBody>
      </p:sp>
      <p:sp>
        <p:nvSpPr>
          <p:cNvPr id="1049017" name="Shape 23"/>
          <p:cNvSpPr/>
          <p:nvPr/>
        </p:nvSpPr>
        <p:spPr>
          <a:xfrm>
            <a:off x="4160520" y="2743200"/>
            <a:ext cx="27432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18" name="Shape 24"/>
          <p:cNvSpPr/>
          <p:nvPr/>
        </p:nvSpPr>
        <p:spPr>
          <a:xfrm>
            <a:off x="4434840" y="2523744"/>
            <a:ext cx="914400" cy="438912"/>
          </a:xfrm>
          <a:prstGeom prst="rect">
            <a:avLst/>
          </a:prstGeom>
          <a:solidFill>
            <a:srgbClr val="1A2E6B"/>
          </a:solidFill>
          <a:ln w="12700">
            <a:solidFill>
              <a:srgbClr val="3CB9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19" name="Text 25"/>
          <p:cNvSpPr/>
          <p:nvPr/>
        </p:nvSpPr>
        <p:spPr>
          <a:xfrm>
            <a:off x="4434840" y="2523744"/>
            <a:ext cx="9144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Reminder</a:t>
            </a:r>
            <a:endParaRPr lang="en-US" sz="850" dirty="0"/>
          </a:p>
        </p:txBody>
      </p:sp>
      <p:sp>
        <p:nvSpPr>
          <p:cNvPr id="1049020" name="Shape 26"/>
          <p:cNvSpPr/>
          <p:nvPr/>
        </p:nvSpPr>
        <p:spPr>
          <a:xfrm>
            <a:off x="5349240" y="2743200"/>
            <a:ext cx="22860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21" name="Shape 27"/>
          <p:cNvSpPr/>
          <p:nvPr/>
        </p:nvSpPr>
        <p:spPr>
          <a:xfrm>
            <a:off x="5577840" y="2523744"/>
            <a:ext cx="914400" cy="438912"/>
          </a:xfrm>
          <a:prstGeom prst="rect">
            <a:avLst/>
          </a:prstGeom>
          <a:solidFill>
            <a:srgbClr val="1A2E6B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22" name="Text 28"/>
          <p:cNvSpPr/>
          <p:nvPr/>
        </p:nvSpPr>
        <p:spPr>
          <a:xfrm>
            <a:off x="5577840" y="2523744"/>
            <a:ext cx="9144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Sent</a:t>
            </a:r>
            <a:endParaRPr lang="en-US" sz="850" dirty="0"/>
          </a:p>
        </p:txBody>
      </p:sp>
      <p:sp>
        <p:nvSpPr>
          <p:cNvPr id="1049023" name="Shape 29"/>
          <p:cNvSpPr/>
          <p:nvPr/>
        </p:nvSpPr>
        <p:spPr>
          <a:xfrm>
            <a:off x="6492240" y="2743200"/>
            <a:ext cx="22860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24" name="Shape 30"/>
          <p:cNvSpPr/>
          <p:nvPr/>
        </p:nvSpPr>
        <p:spPr>
          <a:xfrm>
            <a:off x="6720840" y="2523744"/>
            <a:ext cx="914400" cy="438912"/>
          </a:xfrm>
          <a:prstGeom prst="rect">
            <a:avLst/>
          </a:prstGeom>
          <a:solidFill>
            <a:srgbClr val="1A2E6B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25" name="Text 31"/>
          <p:cNvSpPr/>
          <p:nvPr/>
        </p:nvSpPr>
        <p:spPr>
          <a:xfrm>
            <a:off x="6720840" y="2523744"/>
            <a:ext cx="9144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</a:t>
            </a:r>
            <a:endParaRPr lang="en-US" sz="850" dirty="0"/>
          </a:p>
        </p:txBody>
      </p:sp>
      <p:sp>
        <p:nvSpPr>
          <p:cNvPr id="1049026" name="Shape 32"/>
          <p:cNvSpPr/>
          <p:nvPr/>
        </p:nvSpPr>
        <p:spPr>
          <a:xfrm>
            <a:off x="7635240" y="2743200"/>
            <a:ext cx="22860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27" name="Shape 33"/>
          <p:cNvSpPr/>
          <p:nvPr/>
        </p:nvSpPr>
        <p:spPr>
          <a:xfrm>
            <a:off x="8138160" y="2542032"/>
            <a:ext cx="402336" cy="40233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28" name="Text 34"/>
          <p:cNvSpPr/>
          <p:nvPr/>
        </p:nvSpPr>
        <p:spPr>
          <a:xfrm>
            <a:off x="8046720" y="2999232"/>
            <a:ext cx="5852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800" dirty="0"/>
          </a:p>
        </p:txBody>
      </p:sp>
      <p:sp>
        <p:nvSpPr>
          <p:cNvPr id="1049029" name="Shape 35"/>
          <p:cNvSpPr/>
          <p:nvPr/>
        </p:nvSpPr>
        <p:spPr>
          <a:xfrm>
            <a:off x="3200400" y="3383280"/>
            <a:ext cx="914400" cy="420624"/>
          </a:xfrm>
          <a:prstGeom prst="rect">
            <a:avLst/>
          </a:prstGeom>
          <a:solidFill>
            <a:srgbClr val="2A1A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30" name="Text 36"/>
          <p:cNvSpPr/>
          <p:nvPr/>
        </p:nvSpPr>
        <p:spPr>
          <a:xfrm>
            <a:off x="3200400" y="3383280"/>
            <a:ext cx="914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Due?</a:t>
            </a:r>
            <a:endParaRPr lang="en-US" sz="900" dirty="0"/>
          </a:p>
        </p:txBody>
      </p:sp>
      <p:sp>
        <p:nvSpPr>
          <p:cNvPr id="1049031" name="Shape 37"/>
          <p:cNvSpPr/>
          <p:nvPr/>
        </p:nvSpPr>
        <p:spPr>
          <a:xfrm>
            <a:off x="3611880" y="2962656"/>
            <a:ext cx="0" cy="420624"/>
          </a:xfrm>
          <a:prstGeom prst="line">
            <a:avLst/>
          </a:prstGeom>
          <a:noFill/>
          <a:ln w="12700">
            <a:solidFill>
              <a:srgbClr val="7A8BA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49032" name="Text 38"/>
          <p:cNvSpPr/>
          <p:nvPr/>
        </p:nvSpPr>
        <p:spPr>
          <a:xfrm>
            <a:off x="3749040" y="3456432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Alert</a:t>
            </a:r>
            <a:endParaRPr lang="en-US" sz="850" dirty="0"/>
          </a:p>
        </p:txBody>
      </p:sp>
      <p:sp>
        <p:nvSpPr>
          <p:cNvPr id="1049033" name="Text 39"/>
          <p:cNvSpPr/>
          <p:nvPr/>
        </p:nvSpPr>
        <p:spPr>
          <a:xfrm>
            <a:off x="731520" y="3977640"/>
            <a:ext cx="12801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credentials and authenticates.</a:t>
            </a:r>
            <a:endParaRPr lang="en-US" sz="800" dirty="0"/>
          </a:p>
        </p:txBody>
      </p:sp>
      <p:sp>
        <p:nvSpPr>
          <p:cNvPr id="1049034" name="Shape 40"/>
          <p:cNvSpPr/>
          <p:nvPr/>
        </p:nvSpPr>
        <p:spPr>
          <a:xfrm>
            <a:off x="1371600" y="2962656"/>
            <a:ext cx="0" cy="1024128"/>
          </a:xfrm>
          <a:prstGeom prst="line">
            <a:avLst/>
          </a:prstGeom>
          <a:noFill/>
          <a:ln w="12700">
            <a:solidFill>
              <a:srgbClr val="2A3F7A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1049035" name="Text 41"/>
          <p:cNvSpPr/>
          <p:nvPr/>
        </p:nvSpPr>
        <p:spPr>
          <a:xfrm>
            <a:off x="1874520" y="3977640"/>
            <a:ext cx="12801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pending tasks sorted by priority.</a:t>
            </a:r>
            <a:endParaRPr lang="en-US" sz="800" dirty="0"/>
          </a:p>
        </p:txBody>
      </p:sp>
      <p:sp>
        <p:nvSpPr>
          <p:cNvPr id="1049036" name="Shape 42"/>
          <p:cNvSpPr/>
          <p:nvPr/>
        </p:nvSpPr>
        <p:spPr>
          <a:xfrm>
            <a:off x="2514600" y="2962656"/>
            <a:ext cx="0" cy="1024128"/>
          </a:xfrm>
          <a:prstGeom prst="line">
            <a:avLst/>
          </a:prstGeom>
          <a:noFill/>
          <a:ln w="12700">
            <a:solidFill>
              <a:srgbClr val="2A3F7A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1049037" name="Text 43"/>
          <p:cNvSpPr/>
          <p:nvPr/>
        </p:nvSpPr>
        <p:spPr>
          <a:xfrm>
            <a:off x="3063240" y="3977640"/>
            <a:ext cx="12801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task title, description, due date.</a:t>
            </a:r>
            <a:endParaRPr lang="en-US" sz="800" dirty="0"/>
          </a:p>
        </p:txBody>
      </p:sp>
      <p:sp>
        <p:nvSpPr>
          <p:cNvPr id="1049038" name="Shape 44"/>
          <p:cNvSpPr/>
          <p:nvPr/>
        </p:nvSpPr>
        <p:spPr>
          <a:xfrm>
            <a:off x="3703320" y="2962656"/>
            <a:ext cx="0" cy="1024128"/>
          </a:xfrm>
          <a:prstGeom prst="line">
            <a:avLst/>
          </a:prstGeom>
          <a:noFill/>
          <a:ln w="12700">
            <a:solidFill>
              <a:srgbClr val="2A3F7A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1049039" name="Text 45"/>
          <p:cNvSpPr/>
          <p:nvPr/>
        </p:nvSpPr>
        <p:spPr>
          <a:xfrm>
            <a:off x="4251960" y="3977640"/>
            <a:ext cx="12801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daily notification time for alerts.</a:t>
            </a:r>
            <a:endParaRPr lang="en-US" sz="800" dirty="0"/>
          </a:p>
        </p:txBody>
      </p:sp>
      <p:sp>
        <p:nvSpPr>
          <p:cNvPr id="1049040" name="Shape 46"/>
          <p:cNvSpPr/>
          <p:nvPr/>
        </p:nvSpPr>
        <p:spPr>
          <a:xfrm>
            <a:off x="4892040" y="2962656"/>
            <a:ext cx="0" cy="1024128"/>
          </a:xfrm>
          <a:prstGeom prst="line">
            <a:avLst/>
          </a:prstGeom>
          <a:noFill/>
          <a:ln w="12700">
            <a:solidFill>
              <a:srgbClr val="2A3F7A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1049041" name="Text 47"/>
          <p:cNvSpPr/>
          <p:nvPr/>
        </p:nvSpPr>
        <p:spPr>
          <a:xfrm>
            <a:off x="5394960" y="3977640"/>
            <a:ext cx="12801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 with pending task list.</a:t>
            </a:r>
            <a:endParaRPr lang="en-US" sz="800" dirty="0"/>
          </a:p>
        </p:txBody>
      </p:sp>
      <p:sp>
        <p:nvSpPr>
          <p:cNvPr id="1049042" name="Shape 48"/>
          <p:cNvSpPr/>
          <p:nvPr/>
        </p:nvSpPr>
        <p:spPr>
          <a:xfrm>
            <a:off x="6035040" y="2962656"/>
            <a:ext cx="0" cy="1024128"/>
          </a:xfrm>
          <a:prstGeom prst="line">
            <a:avLst/>
          </a:prstGeom>
          <a:noFill/>
          <a:ln w="12700">
            <a:solidFill>
              <a:srgbClr val="2A3F7A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1049043" name="Text 49"/>
          <p:cNvSpPr/>
          <p:nvPr/>
        </p:nvSpPr>
        <p:spPr>
          <a:xfrm>
            <a:off x="6537960" y="3977640"/>
            <a:ext cx="12801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marks task as done.</a:t>
            </a:r>
            <a:endParaRPr lang="en-US" sz="800" dirty="0"/>
          </a:p>
        </p:txBody>
      </p:sp>
      <p:sp>
        <p:nvSpPr>
          <p:cNvPr id="1049044" name="Shape 50"/>
          <p:cNvSpPr/>
          <p:nvPr/>
        </p:nvSpPr>
        <p:spPr>
          <a:xfrm>
            <a:off x="7178040" y="2962656"/>
            <a:ext cx="0" cy="1024128"/>
          </a:xfrm>
          <a:prstGeom prst="line">
            <a:avLst/>
          </a:prstGeom>
          <a:noFill/>
          <a:ln w="12700">
            <a:solidFill>
              <a:srgbClr val="2A3F7A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8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49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50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51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2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52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53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54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55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56" name="Shape 8"/>
          <p:cNvSpPr/>
          <p:nvPr/>
        </p:nvSpPr>
        <p:spPr>
          <a:xfrm>
            <a:off x="137160" y="676656"/>
            <a:ext cx="8732520" cy="4265676"/>
          </a:xfrm>
          <a:prstGeom prst="rect">
            <a:avLst/>
          </a:prstGeom>
          <a:solidFill>
            <a:srgbClr val="0A0F1E"/>
          </a:solidFill>
          <a:ln w="1905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r>
              <a:rPr lang="en-IN" sz="1200" dirty="0">
                <a:solidFill>
                  <a:srgbClr val="FFFFFF"/>
                </a:solidFill>
              </a:rPr>
              <a:t>&lt;!DOCTYPE html&gt;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&lt;html lang="</a:t>
            </a:r>
            <a:r>
              <a:rPr lang="en-IN" sz="1200" dirty="0" err="1">
                <a:solidFill>
                  <a:srgbClr val="FFFFFF"/>
                </a:solidFill>
              </a:rPr>
              <a:t>en</a:t>
            </a:r>
            <a:r>
              <a:rPr lang="en-IN" sz="1200" dirty="0">
                <a:solidFill>
                  <a:srgbClr val="FFFFFF"/>
                </a:solidFill>
              </a:rPr>
              <a:t>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&lt;head&gt;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&lt;meta charset="UTF-8"&gt;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&lt;title&gt;Task Scheduling System&lt;/title&gt;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&lt;link </a:t>
            </a:r>
            <a:r>
              <a:rPr lang="en-IN" sz="1200" dirty="0" err="1">
                <a:solidFill>
                  <a:srgbClr val="FFFFFF"/>
                </a:solidFill>
              </a:rPr>
              <a:t>rel</a:t>
            </a:r>
            <a:r>
              <a:rPr lang="en-IN" sz="1200" dirty="0">
                <a:solidFill>
                  <a:srgbClr val="FFFFFF"/>
                </a:solidFill>
              </a:rPr>
              <a:t>="stylesheet" </a:t>
            </a:r>
            <a:r>
              <a:rPr lang="en-IN" sz="1200" dirty="0" err="1">
                <a:solidFill>
                  <a:srgbClr val="FFFFFF"/>
                </a:solidFill>
              </a:rPr>
              <a:t>href</a:t>
            </a:r>
            <a:r>
              <a:rPr lang="en-IN" sz="1200" dirty="0">
                <a:solidFill>
                  <a:srgbClr val="FFFFFF"/>
                </a:solidFill>
              </a:rPr>
              <a:t>="styles.css"&gt;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&lt;/head&gt;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&lt;body&gt;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&lt;!-- Navbar --&gt;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&lt;nav&gt;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&lt;h1&gt;Task Scheduler&lt;/h1&gt;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&lt;ul&gt;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&lt;li&gt;&lt;a </a:t>
            </a:r>
            <a:r>
              <a:rPr lang="en-IN" sz="1200" dirty="0" err="1">
                <a:solidFill>
                  <a:srgbClr val="FFFFFF"/>
                </a:solidFill>
              </a:rPr>
              <a:t>href</a:t>
            </a:r>
            <a:r>
              <a:rPr lang="en-IN" sz="1200" dirty="0">
                <a:solidFill>
                  <a:srgbClr val="FFFFFF"/>
                </a:solidFill>
              </a:rPr>
              <a:t>="#"&gt;Home&lt;/a&gt;&lt;/li&gt;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&lt;li&gt;&lt;a </a:t>
            </a:r>
            <a:r>
              <a:rPr lang="en-IN" sz="1200" dirty="0" err="1">
                <a:solidFill>
                  <a:srgbClr val="FFFFFF"/>
                </a:solidFill>
              </a:rPr>
              <a:t>href</a:t>
            </a:r>
            <a:r>
              <a:rPr lang="en-IN" sz="1200" dirty="0">
                <a:solidFill>
                  <a:srgbClr val="FFFFFF"/>
                </a:solidFill>
              </a:rPr>
              <a:t>="#tasks"&gt;Tasks&lt;/a&gt;&lt;/li&gt;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&lt;li&gt;&lt;a </a:t>
            </a:r>
            <a:r>
              <a:rPr lang="en-IN" sz="1200" dirty="0" err="1">
                <a:solidFill>
                  <a:srgbClr val="FFFFFF"/>
                </a:solidFill>
              </a:rPr>
              <a:t>href</a:t>
            </a:r>
            <a:r>
              <a:rPr lang="en-IN" sz="1200" dirty="0">
                <a:solidFill>
                  <a:srgbClr val="FFFFFF"/>
                </a:solidFill>
              </a:rPr>
              <a:t>="#diagrams"&gt;Diagrams&lt;/a&gt;&lt;/li&gt;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&lt;/ul&gt;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&lt;/nav&gt;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&lt;!-- Hero Section --&gt;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&lt;section class="hero"&gt;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&lt;h2&gt;Manage Your Tasks Efficiently&lt;/h2&gt;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&lt;p&gt;Create, schedule and track tasks easily&lt;/p&gt;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&lt;/sect</a:t>
            </a:r>
          </a:p>
          <a:p>
            <a:r>
              <a:rPr lang="en-IN" sz="1200" dirty="0">
                <a:solidFill>
                  <a:srgbClr val="FFFFFF"/>
                </a:solidFill>
              </a:rPr>
              <a:t>ion&gt;</a:t>
            </a:r>
          </a:p>
        </p:txBody>
      </p:sp>
      <p:sp>
        <p:nvSpPr>
          <p:cNvPr id="1049057" name="Text 13"/>
          <p:cNvSpPr/>
          <p:nvPr/>
        </p:nvSpPr>
        <p:spPr>
          <a:xfrm>
            <a:off x="2286000" y="1024128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58" name="Text 14"/>
          <p:cNvSpPr/>
          <p:nvPr/>
        </p:nvSpPr>
        <p:spPr>
          <a:xfrm>
            <a:off x="411480" y="1408176"/>
            <a:ext cx="8321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59" name="Text 15"/>
          <p:cNvSpPr/>
          <p:nvPr/>
        </p:nvSpPr>
        <p:spPr>
          <a:xfrm>
            <a:off x="411480" y="1586484"/>
            <a:ext cx="8321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60" name="Text 16"/>
          <p:cNvSpPr/>
          <p:nvPr/>
        </p:nvSpPr>
        <p:spPr>
          <a:xfrm>
            <a:off x="411480" y="1764792"/>
            <a:ext cx="8321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61" name="Text 17"/>
          <p:cNvSpPr/>
          <p:nvPr/>
        </p:nvSpPr>
        <p:spPr>
          <a:xfrm>
            <a:off x="27432" y="557784"/>
            <a:ext cx="8705088" cy="1755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62" name="Text 18"/>
          <p:cNvSpPr/>
          <p:nvPr/>
        </p:nvSpPr>
        <p:spPr>
          <a:xfrm>
            <a:off x="411480" y="2299716"/>
            <a:ext cx="8321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63" name="Text 19"/>
          <p:cNvSpPr/>
          <p:nvPr/>
        </p:nvSpPr>
        <p:spPr>
          <a:xfrm>
            <a:off x="411480" y="2478024"/>
            <a:ext cx="8321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64" name="Text 20"/>
          <p:cNvSpPr/>
          <p:nvPr/>
        </p:nvSpPr>
        <p:spPr>
          <a:xfrm>
            <a:off x="411480" y="2656332"/>
            <a:ext cx="8321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65" name="Text 21"/>
          <p:cNvSpPr/>
          <p:nvPr/>
        </p:nvSpPr>
        <p:spPr>
          <a:xfrm>
            <a:off x="411480" y="2834640"/>
            <a:ext cx="8321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66" name="Text 22"/>
          <p:cNvSpPr/>
          <p:nvPr/>
        </p:nvSpPr>
        <p:spPr>
          <a:xfrm>
            <a:off x="411480" y="3191256"/>
            <a:ext cx="8321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67" name="Text 23"/>
          <p:cNvSpPr/>
          <p:nvPr/>
        </p:nvSpPr>
        <p:spPr>
          <a:xfrm>
            <a:off x="411480" y="3369564"/>
            <a:ext cx="8321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68" name="Text 24"/>
          <p:cNvSpPr/>
          <p:nvPr/>
        </p:nvSpPr>
        <p:spPr>
          <a:xfrm>
            <a:off x="411480" y="3547872"/>
            <a:ext cx="8321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69" name="Text 25"/>
          <p:cNvSpPr/>
          <p:nvPr/>
        </p:nvSpPr>
        <p:spPr>
          <a:xfrm>
            <a:off x="411480" y="3726180"/>
            <a:ext cx="8321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49070" name="Text 26"/>
          <p:cNvSpPr/>
          <p:nvPr/>
        </p:nvSpPr>
        <p:spPr>
          <a:xfrm>
            <a:off x="411480" y="1787652"/>
            <a:ext cx="8321040" cy="2308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4" name="TextBox 2"/>
          <p:cNvSpPr txBox="1"/>
          <p:nvPr/>
        </p:nvSpPr>
        <p:spPr>
          <a:xfrm>
            <a:off x="609600" y="388620"/>
            <a:ext cx="3469308" cy="5273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FFFFFF"/>
                </a:solidFill>
              </a:rPr>
              <a:t>&lt;!-- Task Form --&gt;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&lt;section id="tasks" class="task-section"&gt;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&lt;h2&gt;Create Task&lt;/h2&gt;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&lt;form class="task-form"&gt;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&lt;input type="text" placeholder="Task Title" required&gt;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&lt;input type="date" required&gt;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&lt;select&gt;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    &lt;option&gt;High Priority&lt;/option&gt;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    &lt;option&gt;Medium Priority&lt;/option&gt;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    &lt;option&gt;Low Priority&lt;/option&gt;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&lt;/select&gt;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&lt;button type="submit"&gt;Add Task&lt;/button&gt;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&lt;/form&gt;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&lt;!-- Task List --&gt;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&lt;div class="task-list"&gt;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&lt;h3&gt;Scheduled Tasks&lt;/h3&gt;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&lt;ul&gt;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    &lt;li&gt;Complete Project - High Priority&lt;/li&gt;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    &lt;li&gt;Study DFD - Medium Priority&lt;/li&gt;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    &lt;li&gt;Practice Coding - Low Priority&lt;/li&gt;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&lt;/ul&gt;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&lt;/div&gt;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&lt;/section&gt;</a:t>
            </a:r>
          </a:p>
          <a:p>
            <a:endParaRPr lang="en-IN" dirty="0"/>
          </a:p>
        </p:txBody>
      </p:sp>
      <p:sp>
        <p:nvSpPr>
          <p:cNvPr id="1049075" name="FooterText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6" name="TextBox 1"/>
          <p:cNvSpPr txBox="1"/>
          <p:nvPr/>
        </p:nvSpPr>
        <p:spPr>
          <a:xfrm>
            <a:off x="678180" y="121920"/>
            <a:ext cx="3053080" cy="5679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FFFFFF"/>
                </a:solidFill>
              </a:rPr>
              <a:t>&lt;!-- Diagrams Section --&gt;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&lt;section id="diagrams" class="diagram-section"&gt;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&lt;h2&gt;Project Diagrams&lt;/h2&gt;</a:t>
            </a:r>
          </a:p>
          <a:p>
            <a:endParaRPr lang="en-IN" sz="1200" dirty="0"/>
          </a:p>
          <a:p>
            <a:r>
              <a:rPr lang="en-IN" sz="1200" dirty="0">
                <a:solidFill>
                  <a:srgbClr val="FFFFFF"/>
                </a:solidFill>
              </a:rPr>
              <a:t>    &lt;div class="grid"&gt;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&lt;div class="card"&gt;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    &lt;h3&gt;Architecture&lt;/h3&gt;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    &lt;</a:t>
            </a:r>
            <a:r>
              <a:rPr lang="en-IN" sz="1200" dirty="0" err="1">
                <a:solidFill>
                  <a:srgbClr val="FFFFFF"/>
                </a:solidFill>
              </a:rPr>
              <a:t>img</a:t>
            </a:r>
            <a:r>
              <a:rPr lang="en-IN" sz="1200" dirty="0">
                <a:solidFill>
                  <a:srgbClr val="FFFFFF"/>
                </a:solidFill>
              </a:rPr>
              <a:t> </a:t>
            </a:r>
            <a:r>
              <a:rPr lang="en-IN" sz="1200" dirty="0" err="1">
                <a:solidFill>
                  <a:srgbClr val="FFFFFF"/>
                </a:solidFill>
              </a:rPr>
              <a:t>src</a:t>
            </a:r>
            <a:r>
              <a:rPr lang="en-IN" sz="1200" dirty="0">
                <a:solidFill>
                  <a:srgbClr val="FFFFFF"/>
                </a:solidFill>
              </a:rPr>
              <a:t>="Architecture_Diagram.png"&gt;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&lt;/div&gt;</a:t>
            </a:r>
          </a:p>
          <a:p>
            <a:endParaRPr lang="en-IN" sz="1200" dirty="0"/>
          </a:p>
          <a:p>
            <a:r>
              <a:rPr lang="en-IN" sz="1200" dirty="0">
                <a:solidFill>
                  <a:srgbClr val="FFFFFF"/>
                </a:solidFill>
              </a:rPr>
              <a:t>        &lt;div class="card"&gt;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    &lt;h3&gt;DFD Level 0&lt;/h3&gt;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    &lt;</a:t>
            </a:r>
            <a:r>
              <a:rPr lang="en-IN" sz="1200" dirty="0" err="1">
                <a:solidFill>
                  <a:srgbClr val="FFFFFF"/>
                </a:solidFill>
              </a:rPr>
              <a:t>img</a:t>
            </a:r>
            <a:r>
              <a:rPr lang="en-IN" sz="1200" dirty="0">
                <a:solidFill>
                  <a:srgbClr val="FFFFFF"/>
                </a:solidFill>
              </a:rPr>
              <a:t> </a:t>
            </a:r>
            <a:r>
              <a:rPr lang="en-IN" sz="1200" dirty="0" err="1">
                <a:solidFill>
                  <a:srgbClr val="FFFFFF"/>
                </a:solidFill>
              </a:rPr>
              <a:t>src</a:t>
            </a:r>
            <a:r>
              <a:rPr lang="en-IN" sz="1200" dirty="0">
                <a:solidFill>
                  <a:srgbClr val="FFFFFF"/>
                </a:solidFill>
              </a:rPr>
              <a:t>="DFD_Level_0.png"&gt;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&lt;/div&gt;</a:t>
            </a:r>
          </a:p>
          <a:p>
            <a:endParaRPr lang="en-IN" sz="1200" dirty="0"/>
          </a:p>
          <a:p>
            <a:r>
              <a:rPr lang="en-IN" sz="1200" dirty="0">
                <a:solidFill>
                  <a:srgbClr val="FFFFFF"/>
                </a:solidFill>
              </a:rPr>
              <a:t>        &lt;div class="card"&gt;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    &lt;h3&gt;DFD Level 1&lt;/h3&gt;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    &lt;</a:t>
            </a:r>
            <a:r>
              <a:rPr lang="en-IN" sz="1200" dirty="0" err="1">
                <a:solidFill>
                  <a:srgbClr val="FFFFFF"/>
                </a:solidFill>
              </a:rPr>
              <a:t>img</a:t>
            </a:r>
            <a:r>
              <a:rPr lang="en-IN" sz="1200" dirty="0">
                <a:solidFill>
                  <a:srgbClr val="FFFFFF"/>
                </a:solidFill>
              </a:rPr>
              <a:t> </a:t>
            </a:r>
            <a:r>
              <a:rPr lang="en-IN" sz="1200" dirty="0" err="1">
                <a:solidFill>
                  <a:srgbClr val="FFFFFF"/>
                </a:solidFill>
              </a:rPr>
              <a:t>src</a:t>
            </a:r>
            <a:r>
              <a:rPr lang="en-IN" sz="1200" dirty="0">
                <a:solidFill>
                  <a:srgbClr val="FFFFFF"/>
                </a:solidFill>
              </a:rPr>
              <a:t>="DFD_Level_1.png"&gt;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&lt;/div&gt;</a:t>
            </a:r>
          </a:p>
          <a:p>
            <a:endParaRPr lang="en-IN" sz="1200" dirty="0"/>
          </a:p>
          <a:p>
            <a:r>
              <a:rPr lang="en-IN" sz="1200" dirty="0">
                <a:solidFill>
                  <a:srgbClr val="FFFFFF"/>
                </a:solidFill>
              </a:rPr>
              <a:t>        &lt;div class="card"&gt;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    &lt;h3&gt;ER Diagram&lt;/h3&gt;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    &lt;</a:t>
            </a:r>
            <a:r>
              <a:rPr lang="en-IN" sz="1200" dirty="0" err="1">
                <a:solidFill>
                  <a:srgbClr val="FFFFFF"/>
                </a:solidFill>
              </a:rPr>
              <a:t>img</a:t>
            </a:r>
            <a:r>
              <a:rPr lang="en-IN" sz="1200" dirty="0">
                <a:solidFill>
                  <a:srgbClr val="FFFFFF"/>
                </a:solidFill>
              </a:rPr>
              <a:t> </a:t>
            </a:r>
            <a:r>
              <a:rPr lang="en-IN" sz="1200" dirty="0" err="1">
                <a:solidFill>
                  <a:srgbClr val="FFFFFF"/>
                </a:solidFill>
              </a:rPr>
              <a:t>src</a:t>
            </a:r>
            <a:r>
              <a:rPr lang="en-IN" sz="1200" dirty="0">
                <a:solidFill>
                  <a:srgbClr val="FFFFFF"/>
                </a:solidFill>
              </a:rPr>
              <a:t>="ER_Diagram.png"&gt;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    &lt;/div&gt;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&lt;/div&gt;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&lt;/section&gt;</a:t>
            </a:r>
          </a:p>
          <a:p>
            <a:endParaRPr lang="en-IN" dirty="0"/>
          </a:p>
        </p:txBody>
      </p:sp>
      <p:sp>
        <p:nvSpPr>
          <p:cNvPr id="1049077" name="FooterText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8" name="TextBox 1"/>
          <p:cNvSpPr txBox="1"/>
          <p:nvPr/>
        </p:nvSpPr>
        <p:spPr>
          <a:xfrm>
            <a:off x="1745072" y="213360"/>
            <a:ext cx="2826928" cy="547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FFFFFF"/>
                </a:solidFill>
              </a:rPr>
              <a:t>&lt;!-- Footer --&gt;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&lt;footer&gt;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&lt;p&gt;© 2026 Task Scheduling System&lt;/p&gt;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&lt;/footer&gt;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&lt;/body&gt;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&lt;/html&gt;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body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margin: 0;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font-family: Arial;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background: #f4f6f9;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r>
              <a:rPr lang="en-IN" sz="1200" dirty="0">
                <a:solidFill>
                  <a:srgbClr val="FFFFFF"/>
                </a:solidFill>
              </a:rPr>
              <a:t>/* Navbar */</a:t>
            </a:r>
          </a:p>
          <a:p>
            <a:r>
              <a:rPr lang="en-IN" sz="1200" dirty="0">
                <a:solidFill>
                  <a:srgbClr val="FFFFFF"/>
                </a:solidFill>
              </a:rPr>
              <a:t>nav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background: #2c3e50;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</a:t>
            </a:r>
            <a:r>
              <a:rPr lang="en-IN" sz="1200" dirty="0" err="1">
                <a:solidFill>
                  <a:srgbClr val="FFFFFF"/>
                </a:solidFill>
              </a:rPr>
              <a:t>color</a:t>
            </a:r>
            <a:r>
              <a:rPr lang="en-IN" sz="1200" dirty="0">
                <a:solidFill>
                  <a:srgbClr val="FFFFFF"/>
                </a:solidFill>
              </a:rPr>
              <a:t>: white;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display: flex;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justify-content: space-between;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padding: 15px 30px;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r>
              <a:rPr lang="en-IN" sz="1200" dirty="0">
                <a:solidFill>
                  <a:srgbClr val="FFFFFF"/>
                </a:solidFill>
              </a:rPr>
              <a:t>nav ul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list-style: none;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display: flex;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gap: 20px;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endParaRPr lang="en-IN" dirty="0"/>
          </a:p>
        </p:txBody>
      </p:sp>
      <p:sp>
        <p:nvSpPr>
          <p:cNvPr id="1049079" name="FooterText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0" name="TextBox 1"/>
          <p:cNvSpPr txBox="1"/>
          <p:nvPr/>
        </p:nvSpPr>
        <p:spPr>
          <a:xfrm>
            <a:off x="1722120" y="152400"/>
            <a:ext cx="1770380" cy="5679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FFFFFF"/>
                </a:solidFill>
              </a:rPr>
              <a:t>nav a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</a:t>
            </a:r>
            <a:r>
              <a:rPr lang="en-IN" sz="1200" dirty="0" err="1">
                <a:solidFill>
                  <a:srgbClr val="FFFFFF"/>
                </a:solidFill>
              </a:rPr>
              <a:t>color</a:t>
            </a:r>
            <a:r>
              <a:rPr lang="en-IN" sz="1200" dirty="0">
                <a:solidFill>
                  <a:srgbClr val="FFFFFF"/>
                </a:solidFill>
              </a:rPr>
              <a:t>: white;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text-decoration: none;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r>
              <a:rPr lang="en-IN" sz="1200" dirty="0">
                <a:solidFill>
                  <a:srgbClr val="FFFFFF"/>
                </a:solidFill>
              </a:rPr>
              <a:t>/* Hero */</a:t>
            </a:r>
          </a:p>
          <a:p>
            <a:r>
              <a:rPr lang="en-IN" sz="1200" dirty="0">
                <a:solidFill>
                  <a:srgbClr val="FFFFFF"/>
                </a:solidFill>
              </a:rPr>
              <a:t>.hero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text-align: </a:t>
            </a:r>
            <a:r>
              <a:rPr lang="en-IN" sz="1200" dirty="0" err="1">
                <a:solidFill>
                  <a:srgbClr val="FFFFFF"/>
                </a:solidFill>
              </a:rPr>
              <a:t>center</a:t>
            </a:r>
            <a:r>
              <a:rPr lang="en-IN" sz="1200" dirty="0">
                <a:solidFill>
                  <a:srgbClr val="FFFFFF"/>
                </a:solidFill>
              </a:rPr>
              <a:t>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padding: 50px;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background: #3498db;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</a:t>
            </a:r>
            <a:r>
              <a:rPr lang="en-IN" sz="1200" dirty="0" err="1">
                <a:solidFill>
                  <a:srgbClr val="FFFFFF"/>
                </a:solidFill>
              </a:rPr>
              <a:t>color</a:t>
            </a:r>
            <a:r>
              <a:rPr lang="en-IN" sz="1200" dirty="0">
                <a:solidFill>
                  <a:srgbClr val="FFFFFF"/>
                </a:solidFill>
              </a:rPr>
              <a:t>: white;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r>
              <a:rPr lang="en-IN" sz="1200" dirty="0">
                <a:solidFill>
                  <a:srgbClr val="FFFFFF"/>
                </a:solidFill>
              </a:rPr>
              <a:t>/* Task Section */</a:t>
            </a:r>
          </a:p>
          <a:p>
            <a:r>
              <a:rPr lang="en-IN" sz="1200" dirty="0">
                <a:solidFill>
                  <a:srgbClr val="FFFFFF"/>
                </a:solidFill>
              </a:rPr>
              <a:t>.task-section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padding: 30px;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r>
              <a:rPr lang="en-IN" sz="1200" dirty="0">
                <a:solidFill>
                  <a:srgbClr val="FFFFFF"/>
                </a:solidFill>
              </a:rPr>
              <a:t>.task-form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display: flex;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gap: 10px;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flex-wrap: wrap;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r>
              <a:rPr lang="en-IN" sz="1200" dirty="0">
                <a:solidFill>
                  <a:srgbClr val="FFFFFF"/>
                </a:solidFill>
              </a:rPr>
              <a:t>.task-form input,</a:t>
            </a:r>
          </a:p>
          <a:p>
            <a:r>
              <a:rPr lang="en-IN" sz="1200" dirty="0">
                <a:solidFill>
                  <a:srgbClr val="FFFFFF"/>
                </a:solidFill>
              </a:rPr>
              <a:t>.task-form select,</a:t>
            </a:r>
          </a:p>
          <a:p>
            <a:r>
              <a:rPr lang="en-IN" sz="1200" dirty="0">
                <a:solidFill>
                  <a:srgbClr val="FFFFFF"/>
                </a:solidFill>
              </a:rPr>
              <a:t>.task-form button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padding: 10px;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endParaRPr lang="en-IN" sz="1200" dirty="0"/>
          </a:p>
          <a:p>
            <a:endParaRPr lang="en-IN" dirty="0"/>
          </a:p>
        </p:txBody>
      </p:sp>
      <p:sp>
        <p:nvSpPr>
          <p:cNvPr id="1049081" name="FooterText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2" name="TextBox 1"/>
          <p:cNvSpPr txBox="1"/>
          <p:nvPr/>
        </p:nvSpPr>
        <p:spPr>
          <a:xfrm>
            <a:off x="1417320" y="121920"/>
            <a:ext cx="4244340" cy="578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FFFFFF"/>
                </a:solidFill>
              </a:rPr>
              <a:t>.task-form button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background: #27ae60;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</a:t>
            </a:r>
            <a:r>
              <a:rPr lang="en-IN" sz="1200" dirty="0" err="1">
                <a:solidFill>
                  <a:srgbClr val="FFFFFF"/>
                </a:solidFill>
              </a:rPr>
              <a:t>color</a:t>
            </a:r>
            <a:r>
              <a:rPr lang="en-IN" sz="1200" dirty="0">
                <a:solidFill>
                  <a:srgbClr val="FFFFFF"/>
                </a:solidFill>
              </a:rPr>
              <a:t>: white;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border: none;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r>
              <a:rPr lang="en-IN" sz="1200" dirty="0">
                <a:solidFill>
                  <a:srgbClr val="FFFFFF"/>
                </a:solidFill>
              </a:rPr>
              <a:t>/* Task List */</a:t>
            </a:r>
          </a:p>
          <a:p>
            <a:r>
              <a:rPr lang="en-IN" sz="1200" dirty="0">
                <a:solidFill>
                  <a:srgbClr val="FFFFFF"/>
                </a:solidFill>
              </a:rPr>
              <a:t>.task-list ul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background: white;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padding: 15px;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border-radius: 8px;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r>
              <a:rPr lang="en-IN" sz="1200" dirty="0">
                <a:solidFill>
                  <a:srgbClr val="FFFFFF"/>
                </a:solidFill>
              </a:rPr>
              <a:t>/* Diagrams */</a:t>
            </a:r>
          </a:p>
          <a:p>
            <a:r>
              <a:rPr lang="en-IN" sz="1200" dirty="0">
                <a:solidFill>
                  <a:srgbClr val="FFFFFF"/>
                </a:solidFill>
              </a:rPr>
              <a:t>.diagram-section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padding: 30px;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r>
              <a:rPr lang="en-IN" sz="1200" dirty="0">
                <a:solidFill>
                  <a:srgbClr val="FFFFFF"/>
                </a:solidFill>
              </a:rPr>
              <a:t>.grid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display: grid;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grid-template-columns: repeat(auto-fit, minmax(250px, 1fr));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gap: 20px;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r>
              <a:rPr lang="en-IN" sz="1200" dirty="0">
                <a:solidFill>
                  <a:srgbClr val="FFFFFF"/>
                </a:solidFill>
              </a:rPr>
              <a:t>.card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background: white;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padding: 15px;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border-radius: 10px;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text-align: </a:t>
            </a:r>
            <a:r>
              <a:rPr lang="en-IN" sz="1200" dirty="0" err="1">
                <a:solidFill>
                  <a:srgbClr val="FFFFFF"/>
                </a:solidFill>
              </a:rPr>
              <a:t>center</a:t>
            </a:r>
            <a:r>
              <a:rPr lang="en-IN" sz="1200" dirty="0">
                <a:solidFill>
                  <a:srgbClr val="FFFFFF"/>
                </a:solidFill>
              </a:rPr>
              <a:t>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endParaRPr lang="en-IN" sz="1200" dirty="0"/>
          </a:p>
          <a:p>
            <a:r>
              <a:rPr lang="en-IN" sz="1200" dirty="0">
                <a:solidFill>
                  <a:srgbClr val="FFFFFF"/>
                </a:solidFill>
              </a:rPr>
              <a:t>  </a:t>
            </a:r>
            <a:endParaRPr lang="en-IN" dirty="0"/>
          </a:p>
        </p:txBody>
      </p:sp>
      <p:sp>
        <p:nvSpPr>
          <p:cNvPr id="1049083" name="FooterText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4" name="TextBox 1"/>
          <p:cNvSpPr txBox="1"/>
          <p:nvPr/>
        </p:nvSpPr>
        <p:spPr>
          <a:xfrm>
            <a:off x="1600200" y="259080"/>
            <a:ext cx="6088380" cy="547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FFFFFF"/>
                </a:solidFill>
              </a:rPr>
              <a:t>.card </a:t>
            </a:r>
            <a:r>
              <a:rPr lang="en-IN" sz="1200" dirty="0" err="1">
                <a:solidFill>
                  <a:srgbClr val="FFFFFF"/>
                </a:solidFill>
              </a:rPr>
              <a:t>img</a:t>
            </a:r>
            <a:r>
              <a:rPr lang="en-IN" sz="1200" dirty="0">
                <a:solidFill>
                  <a:srgbClr val="FFFFFF"/>
                </a:solidFill>
              </a:rPr>
              <a:t>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width: 100%;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border-radius: 8px;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r>
              <a:rPr lang="en-IN" sz="1200" dirty="0">
                <a:solidFill>
                  <a:srgbClr val="FFFFFF"/>
                </a:solidFill>
              </a:rPr>
              <a:t>/* Footer */</a:t>
            </a:r>
          </a:p>
          <a:p>
            <a:r>
              <a:rPr lang="en-IN" sz="1200" dirty="0">
                <a:solidFill>
                  <a:srgbClr val="FFFFFF"/>
                </a:solidFill>
              </a:rPr>
              <a:t>footer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text-align: </a:t>
            </a:r>
            <a:r>
              <a:rPr lang="en-IN" sz="1200" dirty="0" err="1">
                <a:solidFill>
                  <a:srgbClr val="FFFFFF"/>
                </a:solidFill>
              </a:rPr>
              <a:t>center</a:t>
            </a:r>
            <a:r>
              <a:rPr lang="en-IN" sz="1200" dirty="0">
                <a:solidFill>
                  <a:srgbClr val="FFFFFF"/>
                </a:solidFill>
              </a:rPr>
              <a:t>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padding: 15px;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background: #2c3e50;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</a:t>
            </a:r>
            <a:r>
              <a:rPr lang="en-IN" sz="1200" dirty="0" err="1">
                <a:solidFill>
                  <a:srgbClr val="FFFFFF"/>
                </a:solidFill>
              </a:rPr>
              <a:t>color</a:t>
            </a:r>
            <a:r>
              <a:rPr lang="en-IN" sz="1200" dirty="0">
                <a:solidFill>
                  <a:srgbClr val="FFFFFF"/>
                </a:solidFill>
              </a:rPr>
              <a:t>: white;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Task Scheduling ML Model</a:t>
            </a:r>
          </a:p>
          <a:p>
            <a:r>
              <a:rPr lang="en-IN" sz="1200" dirty="0">
                <a:solidFill>
                  <a:srgbClr val="FFFFFF"/>
                </a:solidFill>
              </a:rPr>
              <a:t>import pandas as pd</a:t>
            </a:r>
          </a:p>
          <a:p>
            <a:r>
              <a:rPr lang="en-IN" sz="1200" dirty="0">
                <a:solidFill>
                  <a:srgbClr val="FFFFFF"/>
                </a:solidFill>
              </a:rPr>
              <a:t>from </a:t>
            </a:r>
            <a:r>
              <a:rPr lang="en-IN" sz="1200" dirty="0" err="1">
                <a:solidFill>
                  <a:srgbClr val="FFFFFF"/>
                </a:solidFill>
              </a:rPr>
              <a:t>from sklearn.model_selection import train_test_split</a:t>
            </a:r>
            <a:r>
              <a:rPr lang="en-IN" sz="1200" dirty="0">
                <a:solidFill>
                  <a:srgbClr val="FFFFFF"/>
                </a:solidFill>
              </a:rPr>
              <a:t> import </a:t>
            </a:r>
            <a:endParaRPr lang="en-IN" sz="1200" dirty="0"/>
          </a:p>
          <a:p>
            <a:r>
              <a:rPr lang="en-IN" sz="1200" dirty="0">
                <a:solidFill>
                  <a:srgbClr val="FFFFFF"/>
                </a:solidFill>
              </a:rPr>
              <a:t>from </a:t>
            </a:r>
            <a:r>
              <a:rPr lang="en-IN" sz="1200" dirty="0" err="1">
                <a:solidFill>
                  <a:srgbClr val="FFFFFF"/>
                </a:solidFill>
              </a:rPr>
              <a:t>from sklearn.tree import DecisionTreeClassifier</a:t>
            </a:r>
            <a:r>
              <a:rPr lang="en-IN" sz="1200" dirty="0">
                <a:solidFill>
                  <a:srgbClr val="FFFFFF"/>
                </a:solidFill>
              </a:rPr>
              <a:t> import </a:t>
            </a:r>
            <a:endParaRPr lang="en-IN" sz="1200" dirty="0"/>
          </a:p>
          <a:p>
            <a:r>
              <a:rPr lang="en-IN" sz="1200" dirty="0">
                <a:solidFill>
                  <a:srgbClr val="FFFFFF"/>
                </a:solidFill>
              </a:rPr>
              <a:t>from </a:t>
            </a:r>
            <a:r>
              <a:rPr lang="en-IN" sz="1200" dirty="0" err="1">
                <a:solidFill>
                  <a:srgbClr val="FFFFFF"/>
                </a:solidFill>
              </a:rPr>
              <a:t>from sklearn.preprocessing import LabelEncoder</a:t>
            </a:r>
            <a:r>
              <a:rPr lang="en-IN" sz="1200" dirty="0">
                <a:solidFill>
                  <a:srgbClr val="FFFFFF"/>
                </a:solidFill>
              </a:rPr>
              <a:t> import </a:t>
            </a:r>
            <a:endParaRPr lang="en-IN" sz="1200" dirty="0"/>
          </a:p>
          <a:p>
            <a:r>
              <a:rPr lang="en-IN" sz="1200" dirty="0">
                <a:solidFill>
                  <a:srgbClr val="FFFFFF"/>
                </a:solidFill>
              </a:rPr>
              <a:t>from </a:t>
            </a:r>
            <a:r>
              <a:rPr lang="en-IN" sz="1200" dirty="0" err="1">
                <a:solidFill>
                  <a:srgbClr val="FFFFFF"/>
                </a:solidFill>
              </a:rPr>
              <a:t>from sklearn.metrics import accuracy_score</a:t>
            </a:r>
            <a:r>
              <a:rPr lang="en-IN" sz="1200" dirty="0">
                <a:solidFill>
                  <a:srgbClr val="FFFFFF"/>
                </a:solidFill>
              </a:rPr>
              <a:t> import </a:t>
            </a:r>
            <a:endParaRPr lang="en-IN" sz="1200" dirty="0"/>
          </a:p>
          <a:p>
            <a:r>
              <a:rPr lang="en-IN" sz="1200" dirty="0">
                <a:solidFill>
                  <a:srgbClr val="FFFFFF"/>
                </a:solidFill>
              </a:rPr>
              <a:t># Sample dataset</a:t>
            </a:r>
          </a:p>
          <a:p>
            <a:r>
              <a:rPr lang="en-IN" sz="1200" dirty="0">
                <a:solidFill>
                  <a:srgbClr val="FFFFFF"/>
                </a:solidFill>
              </a:rPr>
              <a:t>data = {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'duration': [1, 2, 3, 4, 5, 2, 3, 1],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'</a:t>
            </a:r>
            <a:r>
              <a:rPr lang="en-IN" sz="1200" dirty="0" err="1">
                <a:solidFill>
                  <a:srgbClr val="FFFFFF"/>
                </a:solidFill>
              </a:rPr>
              <a:t>deadline_days</a:t>
            </a:r>
            <a:r>
              <a:rPr lang="en-IN" sz="1200" dirty="0">
                <a:solidFill>
                  <a:srgbClr val="FFFFFF"/>
                </a:solidFill>
              </a:rPr>
              <a:t>': [1,3,5,2,1,4,2,3], 'importance': ['High','Medium','Low','High','High','Low','Medium','Low']}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'importance': ['High', 'Medium', 'Low', 'High', 'High', 'Low', 'Medium', 'Low'],</a:t>
            </a:r>
          </a:p>
          <a:p>
            <a:r>
              <a:rPr lang="en-IN" sz="1200" dirty="0">
                <a:solidFill>
                  <a:srgbClr val="FFFFFF"/>
                </a:solidFill>
              </a:rPr>
              <a:t>    'priority': ['High', 'Medium', 'Low', 'High', 'High', 'Low', 'Medium', 'Low']</a:t>
            </a:r>
          </a:p>
          <a:p>
            <a:r>
              <a:rPr lang="en-IN" sz="1200" dirty="0">
                <a:solidFill>
                  <a:srgbClr val="FFFFFF"/>
                </a:solidFill>
              </a:rPr>
              <a:t>}</a:t>
            </a:r>
          </a:p>
          <a:p>
            <a:endParaRPr lang="en-IN" sz="1200" dirty="0"/>
          </a:p>
          <a:p>
            <a:endParaRPr lang="en-IN" dirty="0"/>
          </a:p>
        </p:txBody>
      </p:sp>
      <p:sp>
        <p:nvSpPr>
          <p:cNvPr id="1049085" name="FooterText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6" name="TextBox 1"/>
          <p:cNvSpPr txBox="1"/>
          <p:nvPr/>
        </p:nvSpPr>
        <p:spPr>
          <a:xfrm>
            <a:off x="1333500" y="601980"/>
            <a:ext cx="4246881" cy="4663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rgbClr val="FFFFFF"/>
                </a:solidFill>
              </a:rPr>
              <a:t>df</a:t>
            </a:r>
            <a:r>
              <a:rPr lang="en-IN" sz="1200" dirty="0">
                <a:solidFill>
                  <a:srgbClr val="FFFFFF"/>
                </a:solidFill>
              </a:rPr>
              <a:t> = </a:t>
            </a:r>
            <a:r>
              <a:rPr lang="en-IN" sz="1200" dirty="0" err="1">
                <a:solidFill>
                  <a:srgbClr val="FFFFFF"/>
                </a:solidFill>
              </a:rPr>
              <a:t>pd.DataFrame</a:t>
            </a:r>
            <a:r>
              <a:rPr lang="en-IN" sz="1200" dirty="0">
                <a:solidFill>
                  <a:srgbClr val="FFFFFF"/>
                </a:solidFill>
              </a:rPr>
              <a:t>(data)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Encode categorical data</a:t>
            </a:r>
          </a:p>
          <a:p>
            <a:r>
              <a:rPr lang="en-IN" sz="1200" dirty="0">
                <a:solidFill>
                  <a:srgbClr val="FFFFFF"/>
                </a:solidFill>
              </a:rPr>
              <a:t>le = </a:t>
            </a:r>
            <a:r>
              <a:rPr lang="en-IN" sz="1200" dirty="0" err="1">
                <a:solidFill>
                  <a:srgbClr val="FFFFFF"/>
                </a:solidFill>
              </a:rPr>
              <a:t>LabelEncoder</a:t>
            </a:r>
            <a:r>
              <a:rPr lang="en-IN" sz="1200" dirty="0">
                <a:solidFill>
                  <a:srgbClr val="FFFFFF"/>
                </a:solidFill>
              </a:rPr>
              <a:t>()</a:t>
            </a:r>
          </a:p>
          <a:p>
            <a:r>
              <a:rPr lang="en-IN" sz="1200" dirty="0" err="1">
                <a:solidFill>
                  <a:srgbClr val="FFFFFF"/>
                </a:solidFill>
              </a:rPr>
              <a:t>df</a:t>
            </a:r>
            <a:r>
              <a:rPr lang="en-IN" sz="1200" dirty="0">
                <a:solidFill>
                  <a:srgbClr val="FFFFFF"/>
                </a:solidFill>
              </a:rPr>
              <a:t>['importance'] = </a:t>
            </a:r>
            <a:r>
              <a:rPr lang="en-IN" sz="1200" dirty="0" err="1">
                <a:solidFill>
                  <a:srgbClr val="FFFFFF"/>
                </a:solidFill>
              </a:rPr>
              <a:t>le.fit_transform</a:t>
            </a:r>
            <a:r>
              <a:rPr lang="en-IN" sz="1200" dirty="0">
                <a:solidFill>
                  <a:srgbClr val="FFFFFF"/>
                </a:solidFill>
              </a:rPr>
              <a:t>(</a:t>
            </a:r>
            <a:r>
              <a:rPr lang="en-IN" sz="1200" dirty="0" err="1">
                <a:solidFill>
                  <a:srgbClr val="FFFFFF"/>
                </a:solidFill>
              </a:rPr>
              <a:t>df</a:t>
            </a:r>
            <a:r>
              <a:rPr lang="en-IN" sz="1200" dirty="0">
                <a:solidFill>
                  <a:srgbClr val="FFFFFF"/>
                </a:solidFill>
              </a:rPr>
              <a:t>['importance'])</a:t>
            </a:r>
          </a:p>
          <a:p>
            <a:r>
              <a:rPr lang="en-IN" sz="1200" dirty="0" err="1">
                <a:solidFill>
                  <a:srgbClr val="FFFFFF"/>
                </a:solidFill>
              </a:rPr>
              <a:t>df</a:t>
            </a:r>
            <a:r>
              <a:rPr lang="en-IN" sz="1200" dirty="0">
                <a:solidFill>
                  <a:srgbClr val="FFFFFF"/>
                </a:solidFill>
              </a:rPr>
              <a:t>['priority'] = </a:t>
            </a:r>
            <a:r>
              <a:rPr lang="en-IN" sz="1200" dirty="0" err="1">
                <a:solidFill>
                  <a:srgbClr val="FFFFFF"/>
                </a:solidFill>
              </a:rPr>
              <a:t>le.fit_transform</a:t>
            </a:r>
            <a:r>
              <a:rPr lang="en-IN" sz="1200" dirty="0">
                <a:solidFill>
                  <a:srgbClr val="FFFFFF"/>
                </a:solidFill>
              </a:rPr>
              <a:t>(</a:t>
            </a:r>
            <a:r>
              <a:rPr lang="en-IN" sz="1200" dirty="0" err="1">
                <a:solidFill>
                  <a:srgbClr val="FFFFFF"/>
                </a:solidFill>
              </a:rPr>
              <a:t>df</a:t>
            </a:r>
            <a:r>
              <a:rPr lang="en-IN" sz="1200" dirty="0">
                <a:solidFill>
                  <a:srgbClr val="FFFFFF"/>
                </a:solidFill>
              </a:rPr>
              <a:t>['priority'])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Features &amp; Target</a:t>
            </a:r>
          </a:p>
          <a:p>
            <a:r>
              <a:rPr lang="en-IN" sz="1200" dirty="0">
                <a:solidFill>
                  <a:srgbClr val="FFFFFF"/>
                </a:solidFill>
              </a:rPr>
              <a:t>X = </a:t>
            </a:r>
            <a:r>
              <a:rPr lang="en-IN" sz="1200" dirty="0" err="1">
                <a:solidFill>
                  <a:srgbClr val="FFFFFF"/>
                </a:solidFill>
              </a:rPr>
              <a:t>df</a:t>
            </a:r>
            <a:r>
              <a:rPr lang="en-IN" sz="1200" dirty="0">
                <a:solidFill>
                  <a:srgbClr val="FFFFFF"/>
                </a:solidFill>
              </a:rPr>
              <a:t>[['duration', '</a:t>
            </a:r>
            <a:r>
              <a:rPr lang="en-IN" sz="1200" dirty="0" err="1">
                <a:solidFill>
                  <a:srgbClr val="FFFFFF"/>
                </a:solidFill>
              </a:rPr>
              <a:t>deadline_days</a:t>
            </a:r>
            <a:r>
              <a:rPr lang="en-IN" sz="1200" dirty="0">
                <a:solidFill>
                  <a:srgbClr val="FFFFFF"/>
                </a:solidFill>
              </a:rPr>
              <a:t>', 'importance']]</a:t>
            </a:r>
          </a:p>
          <a:p>
            <a:r>
              <a:rPr lang="en-IN" sz="1200" dirty="0">
                <a:solidFill>
                  <a:srgbClr val="FFFFFF"/>
                </a:solidFill>
              </a:rPr>
              <a:t>y = </a:t>
            </a:r>
            <a:r>
              <a:rPr lang="en-IN" sz="1200" dirty="0" err="1">
                <a:solidFill>
                  <a:srgbClr val="FFFFFF"/>
                </a:solidFill>
              </a:rPr>
              <a:t>df</a:t>
            </a:r>
            <a:r>
              <a:rPr lang="en-IN" sz="1200" dirty="0">
                <a:solidFill>
                  <a:srgbClr val="FFFFFF"/>
                </a:solidFill>
              </a:rPr>
              <a:t>['priority']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Split data</a:t>
            </a:r>
          </a:p>
          <a:p>
            <a:r>
              <a:rPr lang="en-IN" sz="1200" dirty="0" err="1">
                <a:solidFill>
                  <a:srgbClr val="FFFFFF"/>
                </a:solidFill>
              </a:rPr>
              <a:t>X_train</a:t>
            </a:r>
            <a:r>
              <a:rPr lang="en-IN" sz="1200" dirty="0">
                <a:solidFill>
                  <a:srgbClr val="FFFFFF"/>
                </a:solidFill>
              </a:rPr>
              <a:t>, </a:t>
            </a:r>
            <a:r>
              <a:rPr lang="en-IN" sz="1200" dirty="0" err="1">
                <a:solidFill>
                  <a:srgbClr val="FFFFFF"/>
                </a:solidFill>
              </a:rPr>
              <a:t>X_test</a:t>
            </a:r>
            <a:r>
              <a:rPr lang="en-IN" sz="1200" dirty="0">
                <a:solidFill>
                  <a:srgbClr val="FFFFFF"/>
                </a:solidFill>
              </a:rPr>
              <a:t>, </a:t>
            </a:r>
            <a:r>
              <a:rPr lang="en-IN" sz="1200" dirty="0" err="1">
                <a:solidFill>
                  <a:srgbClr val="FFFFFF"/>
                </a:solidFill>
              </a:rPr>
              <a:t>y_train</a:t>
            </a:r>
            <a:r>
              <a:rPr lang="en-IN" sz="1200" dirty="0">
                <a:solidFill>
                  <a:srgbClr val="FFFFFF"/>
                </a:solidFill>
              </a:rPr>
              <a:t>, </a:t>
            </a:r>
            <a:r>
              <a:rPr lang="en-IN" sz="1200" dirty="0" err="1">
                <a:solidFill>
                  <a:srgbClr val="FFFFFF"/>
                </a:solidFill>
              </a:rPr>
              <a:t>y_test</a:t>
            </a:r>
            <a:r>
              <a:rPr lang="en-IN" sz="1200" dirty="0">
                <a:solidFill>
                  <a:srgbClr val="FFFFFF"/>
                </a:solidFill>
              </a:rPr>
              <a:t> = </a:t>
            </a:r>
            <a:r>
              <a:rPr lang="en-IN" sz="1200" dirty="0" err="1">
                <a:solidFill>
                  <a:srgbClr val="FFFFFF"/>
                </a:solidFill>
              </a:rPr>
              <a:t>train_test_split</a:t>
            </a:r>
            <a:r>
              <a:rPr lang="en-IN" sz="1200" dirty="0">
                <a:solidFill>
                  <a:srgbClr val="FFFFFF"/>
                </a:solidFill>
              </a:rPr>
              <a:t>(X, y, </a:t>
            </a:r>
            <a:r>
              <a:rPr lang="en-IN" sz="1200" dirty="0" err="1">
                <a:solidFill>
                  <a:srgbClr val="FFFFFF"/>
                </a:solidFill>
              </a:rPr>
              <a:t>test_size</a:t>
            </a:r>
            <a:r>
              <a:rPr lang="en-IN" sz="1200" dirty="0">
                <a:solidFill>
                  <a:srgbClr val="FFFFFF"/>
                </a:solidFill>
              </a:rPr>
              <a:t>=0.2)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Train model</a:t>
            </a:r>
          </a:p>
          <a:p>
            <a:r>
              <a:rPr lang="en-IN" sz="1200" dirty="0">
                <a:solidFill>
                  <a:srgbClr val="FFFFFF"/>
                </a:solidFill>
              </a:rPr>
              <a:t>model = </a:t>
            </a:r>
            <a:r>
              <a:rPr lang="en-IN" sz="1200" dirty="0" err="1">
                <a:solidFill>
                  <a:srgbClr val="FFFFFF"/>
                </a:solidFill>
              </a:rPr>
              <a:t>DecisionTreeClassifier</a:t>
            </a:r>
            <a:r>
              <a:rPr lang="en-IN" sz="1200" dirty="0">
                <a:solidFill>
                  <a:srgbClr val="FFFFFF"/>
                </a:solidFill>
              </a:rPr>
              <a:t>()</a:t>
            </a:r>
          </a:p>
          <a:p>
            <a:r>
              <a:rPr lang="en-IN" sz="1200" dirty="0" err="1">
                <a:solidFill>
                  <a:srgbClr val="FFFFFF"/>
                </a:solidFill>
              </a:rPr>
              <a:t>model.fit</a:t>
            </a:r>
            <a:r>
              <a:rPr lang="en-IN" sz="1200" dirty="0">
                <a:solidFill>
                  <a:srgbClr val="FFFFFF"/>
                </a:solidFill>
              </a:rPr>
              <a:t>(</a:t>
            </a:r>
            <a:r>
              <a:rPr lang="en-IN" sz="1200" dirty="0" err="1">
                <a:solidFill>
                  <a:srgbClr val="FFFFFF"/>
                </a:solidFill>
              </a:rPr>
              <a:t>X_train</a:t>
            </a:r>
            <a:r>
              <a:rPr lang="en-IN" sz="1200" dirty="0">
                <a:solidFill>
                  <a:srgbClr val="FFFFFF"/>
                </a:solidFill>
              </a:rPr>
              <a:t>, </a:t>
            </a:r>
            <a:r>
              <a:rPr lang="en-IN" sz="1200" dirty="0" err="1">
                <a:solidFill>
                  <a:srgbClr val="FFFFFF"/>
                </a:solidFill>
              </a:rPr>
              <a:t>y_train</a:t>
            </a:r>
            <a:r>
              <a:rPr lang="en-IN" sz="1200" dirty="0">
                <a:solidFill>
                  <a:srgbClr val="FFFFFF"/>
                </a:solidFill>
              </a:rPr>
              <a:t>)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Predict</a:t>
            </a:r>
          </a:p>
          <a:p>
            <a:r>
              <a:rPr lang="en-IN" sz="1200" dirty="0" err="1">
                <a:solidFill>
                  <a:srgbClr val="FFFFFF"/>
                </a:solidFill>
              </a:rPr>
              <a:t>y_pred</a:t>
            </a:r>
            <a:r>
              <a:rPr lang="en-IN" sz="1200" dirty="0">
                <a:solidFill>
                  <a:srgbClr val="FFFFFF"/>
                </a:solidFill>
              </a:rPr>
              <a:t> = </a:t>
            </a:r>
            <a:r>
              <a:rPr lang="en-IN" sz="1200" dirty="0" err="1">
                <a:solidFill>
                  <a:srgbClr val="FFFFFF"/>
                </a:solidFill>
              </a:rPr>
              <a:t>model.predict</a:t>
            </a:r>
            <a:r>
              <a:rPr lang="en-IN" sz="1200" dirty="0">
                <a:solidFill>
                  <a:srgbClr val="FFFFFF"/>
                </a:solidFill>
              </a:rPr>
              <a:t>(</a:t>
            </a:r>
            <a:r>
              <a:rPr lang="en-IN" sz="1200" dirty="0" err="1">
                <a:solidFill>
                  <a:srgbClr val="FFFFFF"/>
                </a:solidFill>
              </a:rPr>
              <a:t>X_test</a:t>
            </a:r>
            <a:r>
              <a:rPr lang="en-IN" sz="1200" dirty="0">
                <a:solidFill>
                  <a:srgbClr val="FFFFFF"/>
                </a:solidFill>
              </a:rPr>
              <a:t>)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Accuracy</a:t>
            </a:r>
          </a:p>
          <a:p>
            <a:r>
              <a:rPr lang="en-IN" sz="1200" dirty="0">
                <a:solidFill>
                  <a:srgbClr val="FFFFFF"/>
                </a:solidFill>
              </a:rPr>
              <a:t>print("Accuracy:", </a:t>
            </a:r>
            <a:r>
              <a:rPr lang="en-IN" sz="1200" dirty="0" err="1">
                <a:solidFill>
                  <a:srgbClr val="FFFFFF"/>
                </a:solidFill>
              </a:rPr>
              <a:t>accuracy_score</a:t>
            </a:r>
            <a:r>
              <a:rPr lang="en-IN" sz="1200" dirty="0">
                <a:solidFill>
                  <a:srgbClr val="FFFFFF"/>
                </a:solidFill>
              </a:rPr>
              <a:t>(</a:t>
            </a:r>
            <a:r>
              <a:rPr lang="en-IN" sz="1200" dirty="0" err="1">
                <a:solidFill>
                  <a:srgbClr val="FFFFFF"/>
                </a:solidFill>
              </a:rPr>
              <a:t>y_test</a:t>
            </a:r>
            <a:r>
              <a:rPr lang="en-IN" sz="1200" dirty="0">
                <a:solidFill>
                  <a:srgbClr val="FFFFFF"/>
                </a:solidFill>
              </a:rPr>
              <a:t>, </a:t>
            </a:r>
            <a:r>
              <a:rPr lang="en-IN" sz="1200" dirty="0" err="1">
                <a:solidFill>
                  <a:srgbClr val="FFFFFF"/>
                </a:solidFill>
              </a:rPr>
              <a:t>y_pred</a:t>
            </a:r>
            <a:r>
              <a:rPr lang="en-IN" sz="1200" dirty="0">
                <a:solidFill>
                  <a:srgbClr val="FFFFFF"/>
                </a:solidFill>
              </a:rPr>
              <a:t>))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Test with new data</a:t>
            </a:r>
          </a:p>
          <a:p>
            <a:r>
              <a:rPr lang="en-IN" sz="1200" dirty="0" err="1">
                <a:solidFill>
                  <a:srgbClr val="FFFFFF"/>
                </a:solidFill>
              </a:rPr>
              <a:t>new_task</a:t>
            </a:r>
            <a:r>
              <a:rPr lang="en-IN" sz="1200" dirty="0">
                <a:solidFill>
                  <a:srgbClr val="FFFFFF"/>
                </a:solidFill>
              </a:rPr>
              <a:t> = [[2, 1, 2]]  # duration, </a:t>
            </a:r>
            <a:r>
              <a:rPr lang="en-IN" sz="1200" dirty="0" err="1">
                <a:solidFill>
                  <a:srgbClr val="FFFFFF"/>
                </a:solidFill>
              </a:rPr>
              <a:t>deadline_days</a:t>
            </a:r>
            <a:r>
              <a:rPr lang="en-IN" sz="1200" dirty="0">
                <a:solidFill>
                  <a:srgbClr val="FFFFFF"/>
                </a:solidFill>
              </a:rPr>
              <a:t>, importance</a:t>
            </a:r>
          </a:p>
          <a:p>
            <a:r>
              <a:rPr lang="en-IN" sz="1200" dirty="0">
                <a:solidFill>
                  <a:srgbClr val="FFFFFF"/>
                </a:solidFill>
              </a:rPr>
              <a:t>prediction = </a:t>
            </a:r>
            <a:r>
              <a:rPr lang="en-IN" sz="1200" dirty="0" err="1">
                <a:solidFill>
                  <a:srgbClr val="FFFFFF"/>
                </a:solidFill>
              </a:rPr>
              <a:t>model.predict</a:t>
            </a:r>
            <a:r>
              <a:rPr lang="en-IN" sz="1200" dirty="0">
                <a:solidFill>
                  <a:srgbClr val="FFFFFF"/>
                </a:solidFill>
              </a:rPr>
              <a:t>(</a:t>
            </a:r>
            <a:r>
              <a:rPr lang="en-IN" sz="1200" dirty="0" err="1">
                <a:solidFill>
                  <a:srgbClr val="FFFFFF"/>
                </a:solidFill>
              </a:rPr>
              <a:t>new_task</a:t>
            </a:r>
            <a:r>
              <a:rPr lang="en-IN" sz="1200" dirty="0">
                <a:solidFill>
                  <a:srgbClr val="FFFFFF"/>
                </a:solidFill>
              </a:rPr>
              <a:t>)</a:t>
            </a:r>
          </a:p>
          <a:p>
            <a:r>
              <a:rPr lang="en-IN" sz="1200" dirty="0">
                <a:solidFill>
                  <a:srgbClr val="FFFFFF"/>
                </a:solidFill>
              </a:rPr>
              <a:t>print("Predicted Priority:", prediction)</a:t>
            </a:r>
          </a:p>
          <a:p>
            <a:endParaRPr lang="en-IN" dirty="0"/>
          </a:p>
        </p:txBody>
      </p:sp>
      <p:sp>
        <p:nvSpPr>
          <p:cNvPr id="1049087" name="FooterText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8" name="TextBox 1"/>
          <p:cNvSpPr txBox="1"/>
          <p:nvPr/>
        </p:nvSpPr>
        <p:spPr>
          <a:xfrm>
            <a:off x="586740" y="228600"/>
            <a:ext cx="4246881" cy="4358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rgbClr val="FFFFFF"/>
                </a:solidFill>
              </a:rPr>
              <a:t>df</a:t>
            </a:r>
            <a:r>
              <a:rPr lang="en-IN" sz="1200" dirty="0">
                <a:solidFill>
                  <a:srgbClr val="FFFFFF"/>
                </a:solidFill>
              </a:rPr>
              <a:t> = </a:t>
            </a:r>
            <a:r>
              <a:rPr lang="en-IN" sz="1200" dirty="0" err="1">
                <a:solidFill>
                  <a:srgbClr val="FFFFFF"/>
                </a:solidFill>
              </a:rPr>
              <a:t>pd.DataFrame</a:t>
            </a:r>
            <a:r>
              <a:rPr lang="en-IN" sz="1200" dirty="0">
                <a:solidFill>
                  <a:srgbClr val="FFFFFF"/>
                </a:solidFill>
              </a:rPr>
              <a:t>(data)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Encode categorical data</a:t>
            </a:r>
          </a:p>
          <a:p>
            <a:r>
              <a:rPr lang="en-IN" sz="1200" dirty="0">
                <a:solidFill>
                  <a:srgbClr val="FFFFFF"/>
                </a:solidFill>
              </a:rPr>
              <a:t>le = </a:t>
            </a:r>
            <a:r>
              <a:rPr lang="en-IN" sz="1200" dirty="0" err="1">
                <a:solidFill>
                  <a:srgbClr val="FFFFFF"/>
                </a:solidFill>
              </a:rPr>
              <a:t>LabelEncoder</a:t>
            </a:r>
            <a:r>
              <a:rPr lang="en-IN" sz="1200" dirty="0">
                <a:solidFill>
                  <a:srgbClr val="FFFFFF"/>
                </a:solidFill>
              </a:rPr>
              <a:t>()</a:t>
            </a:r>
          </a:p>
          <a:p>
            <a:r>
              <a:rPr lang="en-IN" sz="1200" dirty="0" err="1">
                <a:solidFill>
                  <a:srgbClr val="FFFFFF"/>
                </a:solidFill>
              </a:rPr>
              <a:t>df</a:t>
            </a:r>
            <a:r>
              <a:rPr lang="en-IN" sz="1200" dirty="0">
                <a:solidFill>
                  <a:srgbClr val="FFFFFF"/>
                </a:solidFill>
              </a:rPr>
              <a:t>['importance'] = </a:t>
            </a:r>
            <a:r>
              <a:rPr lang="en-IN" sz="1200" dirty="0" err="1">
                <a:solidFill>
                  <a:srgbClr val="FFFFFF"/>
                </a:solidFill>
              </a:rPr>
              <a:t>le.fit_transform</a:t>
            </a:r>
            <a:r>
              <a:rPr lang="en-IN" sz="1200" dirty="0">
                <a:solidFill>
                  <a:srgbClr val="FFFFFF"/>
                </a:solidFill>
              </a:rPr>
              <a:t>(</a:t>
            </a:r>
            <a:r>
              <a:rPr lang="en-IN" sz="1200" dirty="0" err="1">
                <a:solidFill>
                  <a:srgbClr val="FFFFFF"/>
                </a:solidFill>
              </a:rPr>
              <a:t>df</a:t>
            </a:r>
            <a:r>
              <a:rPr lang="en-IN" sz="1200" dirty="0">
                <a:solidFill>
                  <a:srgbClr val="FFFFFF"/>
                </a:solidFill>
              </a:rPr>
              <a:t>['importance'])</a:t>
            </a:r>
          </a:p>
          <a:p>
            <a:r>
              <a:rPr lang="en-IN" sz="1200" dirty="0" err="1">
                <a:solidFill>
                  <a:srgbClr val="FFFFFF"/>
                </a:solidFill>
              </a:rPr>
              <a:t>df</a:t>
            </a:r>
            <a:r>
              <a:rPr lang="en-IN" sz="1200" dirty="0">
                <a:solidFill>
                  <a:srgbClr val="FFFFFF"/>
                </a:solidFill>
              </a:rPr>
              <a:t>['priority'] = </a:t>
            </a:r>
            <a:r>
              <a:rPr lang="en-IN" sz="1200" dirty="0" err="1">
                <a:solidFill>
                  <a:srgbClr val="FFFFFF"/>
                </a:solidFill>
              </a:rPr>
              <a:t>le.fit_transform</a:t>
            </a:r>
            <a:r>
              <a:rPr lang="en-IN" sz="1200" dirty="0">
                <a:solidFill>
                  <a:srgbClr val="FFFFFF"/>
                </a:solidFill>
              </a:rPr>
              <a:t>(</a:t>
            </a:r>
            <a:r>
              <a:rPr lang="en-IN" sz="1200" dirty="0" err="1">
                <a:solidFill>
                  <a:srgbClr val="FFFFFF"/>
                </a:solidFill>
              </a:rPr>
              <a:t>df</a:t>
            </a:r>
            <a:r>
              <a:rPr lang="en-IN" sz="1200" dirty="0">
                <a:solidFill>
                  <a:srgbClr val="FFFFFF"/>
                </a:solidFill>
              </a:rPr>
              <a:t>['priority'])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Features &amp; Target</a:t>
            </a:r>
          </a:p>
          <a:p>
            <a:r>
              <a:rPr lang="en-IN" sz="1200" dirty="0">
                <a:solidFill>
                  <a:srgbClr val="FFFFFF"/>
                </a:solidFill>
              </a:rPr>
              <a:t>X = </a:t>
            </a:r>
            <a:r>
              <a:rPr lang="en-IN" sz="1200" dirty="0" err="1">
                <a:solidFill>
                  <a:srgbClr val="FFFFFF"/>
                </a:solidFill>
              </a:rPr>
              <a:t>df</a:t>
            </a:r>
            <a:r>
              <a:rPr lang="en-IN" sz="1200" dirty="0">
                <a:solidFill>
                  <a:srgbClr val="FFFFFF"/>
                </a:solidFill>
              </a:rPr>
              <a:t>[['duration', '</a:t>
            </a:r>
            <a:r>
              <a:rPr lang="en-IN" sz="1200" dirty="0" err="1">
                <a:solidFill>
                  <a:srgbClr val="FFFFFF"/>
                </a:solidFill>
              </a:rPr>
              <a:t>deadline_days</a:t>
            </a:r>
            <a:r>
              <a:rPr lang="en-IN" sz="1200" dirty="0">
                <a:solidFill>
                  <a:srgbClr val="FFFFFF"/>
                </a:solidFill>
              </a:rPr>
              <a:t>', 'importance']]</a:t>
            </a:r>
          </a:p>
          <a:p>
            <a:r>
              <a:rPr lang="en-IN" sz="1200" dirty="0">
                <a:solidFill>
                  <a:srgbClr val="FFFFFF"/>
                </a:solidFill>
              </a:rPr>
              <a:t>y = </a:t>
            </a:r>
            <a:r>
              <a:rPr lang="en-IN" sz="1200" dirty="0" err="1">
                <a:solidFill>
                  <a:srgbClr val="FFFFFF"/>
                </a:solidFill>
              </a:rPr>
              <a:t>df</a:t>
            </a:r>
            <a:r>
              <a:rPr lang="en-IN" sz="1200" dirty="0">
                <a:solidFill>
                  <a:srgbClr val="FFFFFF"/>
                </a:solidFill>
              </a:rPr>
              <a:t>['priority']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Split data</a:t>
            </a:r>
          </a:p>
          <a:p>
            <a:r>
              <a:rPr lang="en-IN" sz="1200" dirty="0" err="1">
                <a:solidFill>
                  <a:srgbClr val="FFFFFF"/>
                </a:solidFill>
              </a:rPr>
              <a:t>X_train</a:t>
            </a:r>
            <a:r>
              <a:rPr lang="en-IN" sz="1200" dirty="0">
                <a:solidFill>
                  <a:srgbClr val="FFFFFF"/>
                </a:solidFill>
              </a:rPr>
              <a:t>, </a:t>
            </a:r>
            <a:r>
              <a:rPr lang="en-IN" sz="1200" dirty="0" err="1">
                <a:solidFill>
                  <a:srgbClr val="FFFFFF"/>
                </a:solidFill>
              </a:rPr>
              <a:t>X_test</a:t>
            </a:r>
            <a:r>
              <a:rPr lang="en-IN" sz="1200" dirty="0">
                <a:solidFill>
                  <a:srgbClr val="FFFFFF"/>
                </a:solidFill>
              </a:rPr>
              <a:t>, </a:t>
            </a:r>
            <a:r>
              <a:rPr lang="en-IN" sz="1200" dirty="0" err="1">
                <a:solidFill>
                  <a:srgbClr val="FFFFFF"/>
                </a:solidFill>
              </a:rPr>
              <a:t>y_train</a:t>
            </a:r>
            <a:r>
              <a:rPr lang="en-IN" sz="1200" dirty="0">
                <a:solidFill>
                  <a:srgbClr val="FFFFFF"/>
                </a:solidFill>
              </a:rPr>
              <a:t>, </a:t>
            </a:r>
            <a:r>
              <a:rPr lang="en-IN" sz="1200" dirty="0" err="1">
                <a:solidFill>
                  <a:srgbClr val="FFFFFF"/>
                </a:solidFill>
              </a:rPr>
              <a:t>y_test</a:t>
            </a:r>
            <a:r>
              <a:rPr lang="en-IN" sz="1200" dirty="0">
                <a:solidFill>
                  <a:srgbClr val="FFFFFF"/>
                </a:solidFill>
              </a:rPr>
              <a:t> = </a:t>
            </a:r>
            <a:r>
              <a:rPr lang="en-IN" sz="1200" dirty="0" err="1">
                <a:solidFill>
                  <a:srgbClr val="FFFFFF"/>
                </a:solidFill>
              </a:rPr>
              <a:t>train_test_split</a:t>
            </a:r>
            <a:r>
              <a:rPr lang="en-IN" sz="1200" dirty="0">
                <a:solidFill>
                  <a:srgbClr val="FFFFFF"/>
                </a:solidFill>
              </a:rPr>
              <a:t>(X, y, </a:t>
            </a:r>
            <a:r>
              <a:rPr lang="en-IN" sz="1200" dirty="0" err="1">
                <a:solidFill>
                  <a:srgbClr val="FFFFFF"/>
                </a:solidFill>
              </a:rPr>
              <a:t>test_size</a:t>
            </a:r>
            <a:r>
              <a:rPr lang="en-IN" sz="1200" dirty="0">
                <a:solidFill>
                  <a:srgbClr val="FFFFFF"/>
                </a:solidFill>
              </a:rPr>
              <a:t>=0.2)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Train model</a:t>
            </a:r>
          </a:p>
          <a:p>
            <a:r>
              <a:rPr lang="en-IN" sz="1200" dirty="0">
                <a:solidFill>
                  <a:srgbClr val="FFFFFF"/>
                </a:solidFill>
              </a:rPr>
              <a:t>model = </a:t>
            </a:r>
            <a:r>
              <a:rPr lang="en-IN" sz="1200" dirty="0" err="1">
                <a:solidFill>
                  <a:srgbClr val="FFFFFF"/>
                </a:solidFill>
              </a:rPr>
              <a:t>DecisionTreeClassifier</a:t>
            </a:r>
            <a:r>
              <a:rPr lang="en-IN" sz="1200" dirty="0">
                <a:solidFill>
                  <a:srgbClr val="FFFFFF"/>
                </a:solidFill>
              </a:rPr>
              <a:t>()</a:t>
            </a:r>
          </a:p>
          <a:p>
            <a:r>
              <a:rPr lang="en-IN" sz="1200" dirty="0" err="1">
                <a:solidFill>
                  <a:srgbClr val="FFFFFF"/>
                </a:solidFill>
              </a:rPr>
              <a:t>model.fit</a:t>
            </a:r>
            <a:r>
              <a:rPr lang="en-IN" sz="1200" dirty="0">
                <a:solidFill>
                  <a:srgbClr val="FFFFFF"/>
                </a:solidFill>
              </a:rPr>
              <a:t>(</a:t>
            </a:r>
            <a:r>
              <a:rPr lang="en-IN" sz="1200" dirty="0" err="1">
                <a:solidFill>
                  <a:srgbClr val="FFFFFF"/>
                </a:solidFill>
              </a:rPr>
              <a:t>X_train</a:t>
            </a:r>
            <a:r>
              <a:rPr lang="en-IN" sz="1200" dirty="0">
                <a:solidFill>
                  <a:srgbClr val="FFFFFF"/>
                </a:solidFill>
              </a:rPr>
              <a:t>, </a:t>
            </a:r>
            <a:r>
              <a:rPr lang="en-IN" sz="1200" dirty="0" err="1">
                <a:solidFill>
                  <a:srgbClr val="FFFFFF"/>
                </a:solidFill>
              </a:rPr>
              <a:t>y_train</a:t>
            </a:r>
            <a:r>
              <a:rPr lang="en-IN" sz="1200" dirty="0">
                <a:solidFill>
                  <a:srgbClr val="FFFFFF"/>
                </a:solidFill>
              </a:rPr>
              <a:t>)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Predict</a:t>
            </a:r>
          </a:p>
          <a:p>
            <a:r>
              <a:rPr lang="en-IN" sz="1200" dirty="0" err="1">
                <a:solidFill>
                  <a:srgbClr val="FFFFFF"/>
                </a:solidFill>
              </a:rPr>
              <a:t>y_pred</a:t>
            </a:r>
            <a:r>
              <a:rPr lang="en-IN" sz="1200" dirty="0">
                <a:solidFill>
                  <a:srgbClr val="FFFFFF"/>
                </a:solidFill>
              </a:rPr>
              <a:t> = </a:t>
            </a:r>
            <a:r>
              <a:rPr lang="en-IN" sz="1200" dirty="0" err="1">
                <a:solidFill>
                  <a:srgbClr val="FFFFFF"/>
                </a:solidFill>
              </a:rPr>
              <a:t>model.predict</a:t>
            </a:r>
            <a:r>
              <a:rPr lang="en-IN" sz="1200" dirty="0">
                <a:solidFill>
                  <a:srgbClr val="FFFFFF"/>
                </a:solidFill>
              </a:rPr>
              <a:t>(</a:t>
            </a:r>
            <a:r>
              <a:rPr lang="en-IN" sz="1200" dirty="0" err="1">
                <a:solidFill>
                  <a:srgbClr val="FFFFFF"/>
                </a:solidFill>
              </a:rPr>
              <a:t>X_test</a:t>
            </a:r>
            <a:r>
              <a:rPr lang="en-IN" sz="1200" dirty="0">
                <a:solidFill>
                  <a:srgbClr val="FFFFFF"/>
                </a:solidFill>
              </a:rPr>
              <a:t>)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Accuracy</a:t>
            </a:r>
          </a:p>
          <a:p>
            <a:r>
              <a:rPr lang="en-IN" sz="1200" dirty="0">
                <a:solidFill>
                  <a:srgbClr val="FFFFFF"/>
                </a:solidFill>
              </a:rPr>
              <a:t>print("Accuracy:", </a:t>
            </a:r>
            <a:r>
              <a:rPr lang="en-IN" sz="1200" dirty="0" err="1">
                <a:solidFill>
                  <a:srgbClr val="FFFFFF"/>
                </a:solidFill>
              </a:rPr>
              <a:t>accuracy_score</a:t>
            </a:r>
            <a:r>
              <a:rPr lang="en-IN" sz="1200" dirty="0">
                <a:solidFill>
                  <a:srgbClr val="FFFFFF"/>
                </a:solidFill>
              </a:rPr>
              <a:t>(</a:t>
            </a:r>
            <a:r>
              <a:rPr lang="en-IN" sz="1200" dirty="0" err="1">
                <a:solidFill>
                  <a:srgbClr val="FFFFFF"/>
                </a:solidFill>
              </a:rPr>
              <a:t>y_test</a:t>
            </a:r>
            <a:r>
              <a:rPr lang="en-IN" sz="1200" dirty="0">
                <a:solidFill>
                  <a:srgbClr val="FFFFFF"/>
                </a:solidFill>
              </a:rPr>
              <a:t>, </a:t>
            </a:r>
            <a:r>
              <a:rPr lang="en-IN" sz="1200" dirty="0" err="1">
                <a:solidFill>
                  <a:srgbClr val="FFFFFF"/>
                </a:solidFill>
              </a:rPr>
              <a:t>y_pred</a:t>
            </a:r>
            <a:r>
              <a:rPr lang="en-IN" sz="1200" dirty="0">
                <a:solidFill>
                  <a:srgbClr val="FFFFFF"/>
                </a:solidFill>
              </a:rPr>
              <a:t>))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Test with new data</a:t>
            </a:r>
          </a:p>
          <a:p>
            <a:r>
              <a:rPr lang="en-IN" sz="1200" dirty="0" err="1">
                <a:solidFill>
                  <a:srgbClr val="FFFFFF"/>
                </a:solidFill>
              </a:rPr>
              <a:t>new_task</a:t>
            </a:r>
            <a:r>
              <a:rPr lang="en-IN" sz="1200" dirty="0">
                <a:solidFill>
                  <a:srgbClr val="FFFFFF"/>
                </a:solidFill>
              </a:rPr>
              <a:t> = [[2, 1, 2]]  # duration, </a:t>
            </a:r>
            <a:r>
              <a:rPr lang="en-IN" sz="1200" dirty="0" err="1">
                <a:solidFill>
                  <a:srgbClr val="FFFFFF"/>
                </a:solidFill>
              </a:rPr>
              <a:t>deadline_days</a:t>
            </a:r>
            <a:r>
              <a:rPr lang="en-IN" sz="1200" dirty="0">
                <a:solidFill>
                  <a:srgbClr val="FFFFFF"/>
                </a:solidFill>
              </a:rPr>
              <a:t>, importance</a:t>
            </a:r>
          </a:p>
          <a:p>
            <a:r>
              <a:rPr lang="en-IN" sz="1200" dirty="0">
                <a:solidFill>
                  <a:srgbClr val="FFFFFF"/>
                </a:solidFill>
              </a:rPr>
              <a:t>prediction = </a:t>
            </a:r>
            <a:r>
              <a:rPr lang="en-IN" sz="1200" dirty="0" err="1">
                <a:solidFill>
                  <a:srgbClr val="FFFFFF"/>
                </a:solidFill>
              </a:rPr>
              <a:t>model.predict</a:t>
            </a:r>
            <a:r>
              <a:rPr lang="en-IN" sz="1200" dirty="0">
                <a:solidFill>
                  <a:srgbClr val="FFFFFF"/>
                </a:solidFill>
              </a:rPr>
              <a:t>(</a:t>
            </a:r>
            <a:r>
              <a:rPr lang="en-IN" sz="1200" dirty="0" err="1">
                <a:solidFill>
                  <a:srgbClr val="FFFFFF"/>
                </a:solidFill>
              </a:rPr>
              <a:t>new_task</a:t>
            </a:r>
            <a:r>
              <a:rPr lang="en-IN" sz="1200" dirty="0">
                <a:solidFill>
                  <a:srgbClr val="FFFFFF"/>
                </a:solidFill>
              </a:rPr>
              <a:t>)</a:t>
            </a:r>
          </a:p>
          <a:p>
            <a:r>
              <a:rPr lang="en-IN" sz="1200" dirty="0">
                <a:solidFill>
                  <a:srgbClr val="FFFFFF"/>
                </a:solidFill>
              </a:rPr>
              <a:t># Output: Accuracy: 1.0  |  Predicted Priority: ['High']</a:t>
            </a:r>
          </a:p>
        </p:txBody>
      </p:sp>
      <p:sp>
        <p:nvSpPr>
          <p:cNvPr id="1049089" name="FooterText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0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91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92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93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1049094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95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096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9097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049098" name="Text 8"/>
          <p:cNvSpPr/>
          <p:nvPr/>
        </p:nvSpPr>
        <p:spPr>
          <a:xfrm>
            <a:off x="320040" y="914400"/>
            <a:ext cx="8503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modules implemented, tested, and verified. System runs locally via Python server on port 8000.</a:t>
            </a:r>
            <a:endParaRPr lang="en-US" sz="1100" dirty="0"/>
          </a:p>
        </p:txBody>
      </p:sp>
      <p:sp>
        <p:nvSpPr>
          <p:cNvPr id="1049099" name="Shape 9"/>
          <p:cNvSpPr/>
          <p:nvPr/>
        </p:nvSpPr>
        <p:spPr>
          <a:xfrm>
            <a:off x="256032" y="1243584"/>
            <a:ext cx="2011680" cy="162763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9100" name="Shape 10"/>
          <p:cNvSpPr/>
          <p:nvPr/>
        </p:nvSpPr>
        <p:spPr>
          <a:xfrm>
            <a:off x="256032" y="1243584"/>
            <a:ext cx="2011680" cy="1143000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01" name="Text 11"/>
          <p:cNvSpPr/>
          <p:nvPr/>
        </p:nvSpPr>
        <p:spPr>
          <a:xfrm>
            <a:off x="256032" y="1243584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049102" name="Shape 12"/>
          <p:cNvSpPr/>
          <p:nvPr/>
        </p:nvSpPr>
        <p:spPr>
          <a:xfrm>
            <a:off x="256032" y="2359152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03" name="Text 13"/>
          <p:cNvSpPr/>
          <p:nvPr/>
        </p:nvSpPr>
        <p:spPr>
          <a:xfrm>
            <a:off x="329184" y="2404872"/>
            <a:ext cx="1812036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Startup
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server started via run.bat on localhost:8000.</a:t>
            </a:r>
            <a:endParaRPr lang="en-US" sz="1000" dirty="0"/>
          </a:p>
        </p:txBody>
      </p:sp>
      <p:sp>
        <p:nvSpPr>
          <p:cNvPr id="1049104" name="Shape 14"/>
          <p:cNvSpPr/>
          <p:nvPr/>
        </p:nvSpPr>
        <p:spPr>
          <a:xfrm>
            <a:off x="2432304" y="1243584"/>
            <a:ext cx="2011680" cy="162763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9105" name="Shape 15"/>
          <p:cNvSpPr/>
          <p:nvPr/>
        </p:nvSpPr>
        <p:spPr>
          <a:xfrm>
            <a:off x="2432304" y="1243584"/>
            <a:ext cx="2011680" cy="1097280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06" name="Text 16"/>
          <p:cNvSpPr/>
          <p:nvPr/>
        </p:nvSpPr>
        <p:spPr>
          <a:xfrm>
            <a:off x="2432304" y="1243584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049107" name="Shape 17"/>
          <p:cNvSpPr/>
          <p:nvPr/>
        </p:nvSpPr>
        <p:spPr>
          <a:xfrm>
            <a:off x="2423160" y="2320290"/>
            <a:ext cx="2020824" cy="6629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08" name="Text 18"/>
          <p:cNvSpPr/>
          <p:nvPr/>
        </p:nvSpPr>
        <p:spPr>
          <a:xfrm>
            <a:off x="2505456" y="2423160"/>
            <a:ext cx="1865376" cy="4663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
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with encrypted password stored in MySQL.</a:t>
            </a:r>
            <a:endParaRPr lang="en-US" sz="1000" dirty="0"/>
          </a:p>
        </p:txBody>
      </p:sp>
      <p:sp>
        <p:nvSpPr>
          <p:cNvPr id="1049109" name="Shape 19"/>
          <p:cNvSpPr/>
          <p:nvPr/>
        </p:nvSpPr>
        <p:spPr>
          <a:xfrm>
            <a:off x="4608576" y="1243584"/>
            <a:ext cx="2011680" cy="162763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9110" name="Shape 20"/>
          <p:cNvSpPr/>
          <p:nvPr/>
        </p:nvSpPr>
        <p:spPr>
          <a:xfrm>
            <a:off x="4608576" y="1266444"/>
            <a:ext cx="2011680" cy="1069848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11" name="Text 21"/>
          <p:cNvSpPr/>
          <p:nvPr/>
        </p:nvSpPr>
        <p:spPr>
          <a:xfrm>
            <a:off x="4608576" y="1243584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049112" name="Shape 22"/>
          <p:cNvSpPr/>
          <p:nvPr/>
        </p:nvSpPr>
        <p:spPr>
          <a:xfrm>
            <a:off x="4608576" y="2340864"/>
            <a:ext cx="2011680" cy="4571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13" name="Text 23"/>
          <p:cNvSpPr/>
          <p:nvPr/>
        </p:nvSpPr>
        <p:spPr>
          <a:xfrm>
            <a:off x="4681728" y="2340864"/>
            <a:ext cx="1865376" cy="4663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
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with session management and validation.</a:t>
            </a:r>
            <a:endParaRPr lang="en-US" sz="1000" dirty="0"/>
          </a:p>
        </p:txBody>
      </p:sp>
      <p:sp>
        <p:nvSpPr>
          <p:cNvPr id="1049114" name="Shape 24"/>
          <p:cNvSpPr/>
          <p:nvPr/>
        </p:nvSpPr>
        <p:spPr>
          <a:xfrm>
            <a:off x="6784848" y="1243584"/>
            <a:ext cx="2011680" cy="162763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9115" name="Shape 25"/>
          <p:cNvSpPr/>
          <p:nvPr/>
        </p:nvSpPr>
        <p:spPr>
          <a:xfrm>
            <a:off x="6784848" y="1234440"/>
            <a:ext cx="2011680" cy="1069848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16" name="Text 26"/>
          <p:cNvSpPr/>
          <p:nvPr/>
        </p:nvSpPr>
        <p:spPr>
          <a:xfrm>
            <a:off x="6784848" y="1243584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049117" name="Shape 27"/>
          <p:cNvSpPr/>
          <p:nvPr/>
        </p:nvSpPr>
        <p:spPr>
          <a:xfrm>
            <a:off x="6784848" y="2331720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18" name="Text 28"/>
          <p:cNvSpPr/>
          <p:nvPr/>
        </p:nvSpPr>
        <p:spPr>
          <a:xfrm>
            <a:off x="6858000" y="2336292"/>
            <a:ext cx="1865376" cy="5532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
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form: title, description, due-date calendar picker.</a:t>
            </a:r>
            <a:endParaRPr lang="en-US" sz="1000" dirty="0"/>
          </a:p>
        </p:txBody>
      </p:sp>
      <p:sp>
        <p:nvSpPr>
          <p:cNvPr id="1049119" name="Shape 29"/>
          <p:cNvSpPr/>
          <p:nvPr/>
        </p:nvSpPr>
        <p:spPr>
          <a:xfrm>
            <a:off x="256032" y="3054096"/>
            <a:ext cx="2011680" cy="162763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9120" name="Shape 30"/>
          <p:cNvSpPr/>
          <p:nvPr/>
        </p:nvSpPr>
        <p:spPr>
          <a:xfrm>
            <a:off x="256032" y="3054096"/>
            <a:ext cx="2011680" cy="1019552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21" name="Text 31"/>
          <p:cNvSpPr/>
          <p:nvPr/>
        </p:nvSpPr>
        <p:spPr>
          <a:xfrm>
            <a:off x="256032" y="3054096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049122" name="Shape 32"/>
          <p:cNvSpPr/>
          <p:nvPr/>
        </p:nvSpPr>
        <p:spPr>
          <a:xfrm>
            <a:off x="256032" y="4091940"/>
            <a:ext cx="2011680" cy="4571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23" name="Text 33"/>
          <p:cNvSpPr/>
          <p:nvPr/>
        </p:nvSpPr>
        <p:spPr>
          <a:xfrm>
            <a:off x="329184" y="4137660"/>
            <a:ext cx="1865376" cy="4800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Edit / Delete
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listed by priority; edit and delete available.</a:t>
            </a:r>
            <a:endParaRPr lang="en-US" sz="1000" dirty="0"/>
          </a:p>
        </p:txBody>
      </p:sp>
      <p:sp>
        <p:nvSpPr>
          <p:cNvPr id="1049124" name="Shape 34"/>
          <p:cNvSpPr/>
          <p:nvPr/>
        </p:nvSpPr>
        <p:spPr>
          <a:xfrm>
            <a:off x="2432304" y="3054096"/>
            <a:ext cx="2011680" cy="162763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9125" name="Shape 35"/>
          <p:cNvSpPr/>
          <p:nvPr/>
        </p:nvSpPr>
        <p:spPr>
          <a:xfrm>
            <a:off x="2432304" y="3035808"/>
            <a:ext cx="2011680" cy="994411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26" name="Text 36"/>
          <p:cNvSpPr/>
          <p:nvPr/>
        </p:nvSpPr>
        <p:spPr>
          <a:xfrm>
            <a:off x="2432304" y="3054096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049127" name="Shape 37"/>
          <p:cNvSpPr/>
          <p:nvPr/>
        </p:nvSpPr>
        <p:spPr>
          <a:xfrm>
            <a:off x="2432304" y="4091940"/>
            <a:ext cx="2011680" cy="4571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28" name="Text 38"/>
          <p:cNvSpPr/>
          <p:nvPr/>
        </p:nvSpPr>
        <p:spPr>
          <a:xfrm>
            <a:off x="2505456" y="4137660"/>
            <a:ext cx="1865376" cy="4800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
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email alerts for all pending tasks.</a:t>
            </a:r>
            <a:endParaRPr lang="en-US" sz="1000" dirty="0"/>
          </a:p>
        </p:txBody>
      </p:sp>
      <p:sp>
        <p:nvSpPr>
          <p:cNvPr id="1049129" name="Shape 39"/>
          <p:cNvSpPr/>
          <p:nvPr/>
        </p:nvSpPr>
        <p:spPr>
          <a:xfrm>
            <a:off x="4608576" y="3054096"/>
            <a:ext cx="2011680" cy="162763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9130" name="Shape 40"/>
          <p:cNvSpPr/>
          <p:nvPr/>
        </p:nvSpPr>
        <p:spPr>
          <a:xfrm>
            <a:off x="4608576" y="3054096"/>
            <a:ext cx="2011680" cy="973838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31" name="Text 41"/>
          <p:cNvSpPr/>
          <p:nvPr/>
        </p:nvSpPr>
        <p:spPr>
          <a:xfrm>
            <a:off x="4608576" y="3054096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049132" name="Shape 42"/>
          <p:cNvSpPr/>
          <p:nvPr/>
        </p:nvSpPr>
        <p:spPr>
          <a:xfrm flipV="1">
            <a:off x="4608576" y="4041649"/>
            <a:ext cx="201168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33" name="Text 43"/>
          <p:cNvSpPr/>
          <p:nvPr/>
        </p:nvSpPr>
        <p:spPr>
          <a:xfrm>
            <a:off x="4681728" y="4105656"/>
            <a:ext cx="1865376" cy="5120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
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list; one-click completion with status update.</a:t>
            </a:r>
            <a:endParaRPr lang="en-US" sz="1000" dirty="0"/>
          </a:p>
        </p:txBody>
      </p:sp>
      <p:sp>
        <p:nvSpPr>
          <p:cNvPr id="1049134" name="Shape 44"/>
          <p:cNvSpPr/>
          <p:nvPr/>
        </p:nvSpPr>
        <p:spPr>
          <a:xfrm>
            <a:off x="6784848" y="3054096"/>
            <a:ext cx="2011680" cy="162763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9135" name="Shape 45"/>
          <p:cNvSpPr/>
          <p:nvPr/>
        </p:nvSpPr>
        <p:spPr>
          <a:xfrm>
            <a:off x="6784848" y="3054095"/>
            <a:ext cx="2011680" cy="1019553"/>
          </a:xfrm>
          <a:prstGeom prst="rect">
            <a:avLst/>
          </a:prstGeom>
          <a:solidFill>
            <a:srgbClr val="0A1028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36" name="Text 46"/>
          <p:cNvSpPr/>
          <p:nvPr/>
        </p:nvSpPr>
        <p:spPr>
          <a:xfrm>
            <a:off x="6784848" y="3054096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049137" name="Shape 47"/>
          <p:cNvSpPr/>
          <p:nvPr/>
        </p:nvSpPr>
        <p:spPr>
          <a:xfrm>
            <a:off x="6784848" y="4041648"/>
            <a:ext cx="2011680" cy="50291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38" name="Text 48"/>
          <p:cNvSpPr/>
          <p:nvPr/>
        </p:nvSpPr>
        <p:spPr>
          <a:xfrm>
            <a:off x="6858000" y="4137658"/>
            <a:ext cx="1865376" cy="48006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
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update — stored encrypted in database.</a:t>
            </a:r>
            <a:endParaRPr lang="en-US" sz="1000" dirty="0"/>
          </a:p>
        </p:txBody>
      </p:sp>
      <p:pic>
        <p:nvPicPr>
          <p:cNvPr id="2097153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7" y="1243584"/>
            <a:ext cx="2011679" cy="1170432"/>
          </a:xfrm>
          <a:prstGeom prst="rect">
            <a:avLst/>
          </a:prstGeom>
        </p:spPr>
      </p:pic>
      <p:pic>
        <p:nvPicPr>
          <p:cNvPr id="2097154" name="Picture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1179575"/>
            <a:ext cx="2020824" cy="1225297"/>
          </a:xfrm>
          <a:prstGeom prst="rect">
            <a:avLst/>
          </a:prstGeom>
        </p:spPr>
      </p:pic>
      <p:pic>
        <p:nvPicPr>
          <p:cNvPr id="2097155" name="Picture 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440" y="3035808"/>
            <a:ext cx="2011680" cy="1147254"/>
          </a:xfrm>
          <a:prstGeom prst="rect">
            <a:avLst/>
          </a:prstGeom>
        </p:spPr>
      </p:pic>
      <p:pic>
        <p:nvPicPr>
          <p:cNvPr id="2097156" name="Picture 5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1448" y="1211580"/>
            <a:ext cx="2002536" cy="1193292"/>
          </a:xfrm>
          <a:prstGeom prst="rect">
            <a:avLst/>
          </a:prstGeom>
        </p:spPr>
      </p:pic>
      <p:pic>
        <p:nvPicPr>
          <p:cNvPr id="2097157" name="Picture 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1243584"/>
            <a:ext cx="2002536" cy="1143000"/>
          </a:xfrm>
          <a:prstGeom prst="rect">
            <a:avLst/>
          </a:prstGeom>
        </p:spPr>
      </p:pic>
      <p:pic>
        <p:nvPicPr>
          <p:cNvPr id="2097158" name="Picture 5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3160" y="3035808"/>
            <a:ext cx="2031232" cy="1147254"/>
          </a:xfrm>
          <a:prstGeom prst="rect">
            <a:avLst/>
          </a:prstGeom>
        </p:spPr>
      </p:pic>
      <p:pic>
        <p:nvPicPr>
          <p:cNvPr id="2097159" name="Picture 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720" y="3035808"/>
            <a:ext cx="2012944" cy="1101852"/>
          </a:xfrm>
          <a:prstGeom prst="rect">
            <a:avLst/>
          </a:prstGeom>
        </p:spPr>
      </p:pic>
      <p:pic>
        <p:nvPicPr>
          <p:cNvPr id="2097160" name="Picture 5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7" y="3007170"/>
            <a:ext cx="2032285" cy="114268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4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44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45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Enhancement</a:t>
            </a:r>
            <a:endParaRPr lang="en-US" sz="2600" dirty="0"/>
          </a:p>
        </p:txBody>
      </p:sp>
      <p:sp>
        <p:nvSpPr>
          <p:cNvPr id="1049146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4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48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9149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049150" name="Shape 8"/>
          <p:cNvSpPr/>
          <p:nvPr/>
        </p:nvSpPr>
        <p:spPr>
          <a:xfrm>
            <a:off x="256032" y="987552"/>
            <a:ext cx="8631936" cy="170078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9151" name="Shape 9"/>
          <p:cNvSpPr/>
          <p:nvPr/>
        </p:nvSpPr>
        <p:spPr>
          <a:xfrm>
            <a:off x="256032" y="987552"/>
            <a:ext cx="8631936" cy="347472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52" name="Text 10"/>
          <p:cNvSpPr/>
          <p:nvPr/>
        </p:nvSpPr>
        <p:spPr>
          <a:xfrm>
            <a:off x="402336" y="1005840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049153" name="Text 11"/>
          <p:cNvSpPr/>
          <p:nvPr/>
        </p:nvSpPr>
        <p:spPr>
          <a:xfrm>
            <a:off x="402336" y="1408176"/>
            <a:ext cx="8321040" cy="11704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Scheduler System makes task management easy and automatic. It saves time, reduces manual work, and helps users and teams finish tasks on time.</a:t>
            </a:r>
            <a:endParaRPr lang="en-US" sz="1200" dirty="0"/>
          </a:p>
        </p:txBody>
      </p:sp>
      <p:sp>
        <p:nvSpPr>
          <p:cNvPr id="1049154" name="Shape 12"/>
          <p:cNvSpPr/>
          <p:nvPr/>
        </p:nvSpPr>
        <p:spPr>
          <a:xfrm>
            <a:off x="256032" y="2816352"/>
            <a:ext cx="8631936" cy="1993392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9155" name="Shape 13"/>
          <p:cNvSpPr/>
          <p:nvPr/>
        </p:nvSpPr>
        <p:spPr>
          <a:xfrm>
            <a:off x="256032" y="2816352"/>
            <a:ext cx="8631936" cy="347472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56" name="Text 14"/>
          <p:cNvSpPr/>
          <p:nvPr/>
        </p:nvSpPr>
        <p:spPr>
          <a:xfrm>
            <a:off x="402336" y="2834640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1049157" name="Shape 15"/>
          <p:cNvSpPr/>
          <p:nvPr/>
        </p:nvSpPr>
        <p:spPr>
          <a:xfrm>
            <a:off x="365760" y="3337560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58" name="Text 16"/>
          <p:cNvSpPr/>
          <p:nvPr/>
        </p:nvSpPr>
        <p:spPr>
          <a:xfrm>
            <a:off x="621792" y="324612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Scheduling (ML predictions)</a:t>
            </a:r>
            <a:endParaRPr lang="en-US" sz="1050" dirty="0"/>
          </a:p>
        </p:txBody>
      </p:sp>
      <p:sp>
        <p:nvSpPr>
          <p:cNvPr id="1049159" name="Shape 17"/>
          <p:cNvSpPr/>
          <p:nvPr/>
        </p:nvSpPr>
        <p:spPr>
          <a:xfrm>
            <a:off x="4681728" y="3337560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60" name="Text 18"/>
          <p:cNvSpPr/>
          <p:nvPr/>
        </p:nvSpPr>
        <p:spPr>
          <a:xfrm>
            <a:off x="4937760" y="324612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Smart Device Integration (Alexa, Google Assistant)</a:t>
            </a:r>
            <a:endParaRPr lang="en-US" sz="1050" dirty="0"/>
          </a:p>
        </p:txBody>
      </p:sp>
      <p:sp>
        <p:nvSpPr>
          <p:cNvPr id="1049161" name="Shape 19"/>
          <p:cNvSpPr/>
          <p:nvPr/>
        </p:nvSpPr>
        <p:spPr>
          <a:xfrm>
            <a:off x="365760" y="3703320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62" name="Text 20"/>
          <p:cNvSpPr/>
          <p:nvPr/>
        </p:nvSpPr>
        <p:spPr>
          <a:xfrm>
            <a:off x="621792" y="361188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Cloud Synchronization (Desktop &amp; Mobile)</a:t>
            </a:r>
            <a:endParaRPr lang="en-US" sz="1050" dirty="0"/>
          </a:p>
        </p:txBody>
      </p:sp>
      <p:sp>
        <p:nvSpPr>
          <p:cNvPr id="1049163" name="Shape 21"/>
          <p:cNvSpPr/>
          <p:nvPr/>
        </p:nvSpPr>
        <p:spPr>
          <a:xfrm>
            <a:off x="4681728" y="3703320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64" name="Text 22"/>
          <p:cNvSpPr/>
          <p:nvPr/>
        </p:nvSpPr>
        <p:spPr>
          <a:xfrm>
            <a:off x="4937760" y="361188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Conflict Resolution Algorithms</a:t>
            </a:r>
            <a:endParaRPr lang="en-US" sz="1050" dirty="0"/>
          </a:p>
        </p:txBody>
      </p:sp>
      <p:sp>
        <p:nvSpPr>
          <p:cNvPr id="1049165" name="Shape 23"/>
          <p:cNvSpPr/>
          <p:nvPr/>
        </p:nvSpPr>
        <p:spPr>
          <a:xfrm>
            <a:off x="365760" y="4069080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66" name="Text 24"/>
          <p:cNvSpPr/>
          <p:nvPr/>
        </p:nvSpPr>
        <p:spPr>
          <a:xfrm>
            <a:off x="621792" y="397764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Gamification: Rewards, Badges &amp; Progress Tracking</a:t>
            </a:r>
            <a:endParaRPr lang="en-US" sz="1050" dirty="0"/>
          </a:p>
        </p:txBody>
      </p:sp>
      <p:sp>
        <p:nvSpPr>
          <p:cNvPr id="1049167" name="Shape 25"/>
          <p:cNvSpPr/>
          <p:nvPr/>
        </p:nvSpPr>
        <p:spPr>
          <a:xfrm>
            <a:off x="4681728" y="4069080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68" name="Text 26"/>
          <p:cNvSpPr/>
          <p:nvPr/>
        </p:nvSpPr>
        <p:spPr>
          <a:xfrm>
            <a:off x="4937760" y="397764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Voice Task Input</a:t>
            </a:r>
            <a:endParaRPr lang="en-US" sz="1050" dirty="0"/>
          </a:p>
        </p:txBody>
      </p:sp>
      <p:sp>
        <p:nvSpPr>
          <p:cNvPr id="1049169" name="Shape 27"/>
          <p:cNvSpPr/>
          <p:nvPr/>
        </p:nvSpPr>
        <p:spPr>
          <a:xfrm>
            <a:off x="365760" y="4434840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70" name="Text 28"/>
          <p:cNvSpPr/>
          <p:nvPr/>
        </p:nvSpPr>
        <p:spPr>
          <a:xfrm>
            <a:off x="621792" y="434340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Encryption &amp; Data Privacy Controls</a:t>
            </a:r>
            <a:endParaRPr lang="en-US" sz="1050" dirty="0"/>
          </a:p>
        </p:txBody>
      </p:sp>
      <p:sp>
        <p:nvSpPr>
          <p:cNvPr id="1049171" name="Shape 29"/>
          <p:cNvSpPr/>
          <p:nvPr/>
        </p:nvSpPr>
        <p:spPr>
          <a:xfrm>
            <a:off x="4681728" y="4434840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72" name="Text 30"/>
          <p:cNvSpPr/>
          <p:nvPr/>
        </p:nvSpPr>
        <p:spPr>
          <a:xfrm>
            <a:off x="4937760" y="434340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Google Calendar, Outlook, Trello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6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77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78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22150"/>
          </a:solidFill>
          <a:ln w="12700">
            <a:solidFill>
              <a:srgbClr val="1221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79" name="Text 3"/>
          <p:cNvSpPr/>
          <p:nvPr/>
        </p:nvSpPr>
        <p:spPr>
          <a:xfrm>
            <a:off x="384048" y="73152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1049180" name="Shape 4"/>
          <p:cNvSpPr/>
          <p:nvPr/>
        </p:nvSpPr>
        <p:spPr>
          <a:xfrm>
            <a:off x="8705088" y="20116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81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82" name="Text 6"/>
          <p:cNvSpPr/>
          <p:nvPr/>
        </p:nvSpPr>
        <p:spPr>
          <a:xfrm>
            <a:off x="274320" y="4983480"/>
            <a:ext cx="64008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 |   RTRP Review II</a:t>
            </a:r>
            <a:endParaRPr lang="en-US" sz="900" dirty="0"/>
          </a:p>
        </p:txBody>
      </p:sp>
      <p:sp>
        <p:nvSpPr>
          <p:cNvPr id="1049183" name="Text 7"/>
          <p:cNvSpPr/>
          <p:nvPr/>
        </p:nvSpPr>
        <p:spPr>
          <a:xfrm>
            <a:off x="8686800" y="4983480"/>
            <a:ext cx="402336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049184" name="Shape 8"/>
          <p:cNvSpPr/>
          <p:nvPr/>
        </p:nvSpPr>
        <p:spPr>
          <a:xfrm>
            <a:off x="256032" y="1005840"/>
            <a:ext cx="4114800" cy="822960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85" name="Shape 9"/>
          <p:cNvSpPr/>
          <p:nvPr/>
        </p:nvSpPr>
        <p:spPr>
          <a:xfrm>
            <a:off x="256032" y="1005840"/>
            <a:ext cx="64008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86" name="Text 10"/>
          <p:cNvSpPr/>
          <p:nvPr/>
        </p:nvSpPr>
        <p:spPr>
          <a:xfrm>
            <a:off x="438912" y="1097280"/>
            <a:ext cx="385876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Windows Task Scheduler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Windows utility for scheduling automated tasks. — learn.microsoft.com</a:t>
            </a:r>
            <a:endParaRPr lang="en-US" sz="1100" dirty="0"/>
          </a:p>
        </p:txBody>
      </p:sp>
      <p:sp>
        <p:nvSpPr>
          <p:cNvPr id="1049187" name="Shape 11"/>
          <p:cNvSpPr/>
          <p:nvPr/>
        </p:nvSpPr>
        <p:spPr>
          <a:xfrm>
            <a:off x="256032" y="1956816"/>
            <a:ext cx="4114800" cy="822960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88" name="Shape 12"/>
          <p:cNvSpPr/>
          <p:nvPr/>
        </p:nvSpPr>
        <p:spPr>
          <a:xfrm>
            <a:off x="256032" y="1956816"/>
            <a:ext cx="64008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89" name="Text 13"/>
          <p:cNvSpPr/>
          <p:nvPr/>
        </p:nvSpPr>
        <p:spPr>
          <a:xfrm>
            <a:off x="438912" y="2048256"/>
            <a:ext cx="385876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Cron (Unix Scheduler)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job scheduler for Unix/Linux systems. — en.wikipedia.org</a:t>
            </a:r>
            <a:endParaRPr lang="en-US" sz="1100" dirty="0"/>
          </a:p>
        </p:txBody>
      </p:sp>
      <p:sp>
        <p:nvSpPr>
          <p:cNvPr id="1049190" name="Shape 14"/>
          <p:cNvSpPr/>
          <p:nvPr/>
        </p:nvSpPr>
        <p:spPr>
          <a:xfrm>
            <a:off x="256032" y="2907792"/>
            <a:ext cx="4114800" cy="822960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91" name="Shape 15"/>
          <p:cNvSpPr/>
          <p:nvPr/>
        </p:nvSpPr>
        <p:spPr>
          <a:xfrm>
            <a:off x="256032" y="2907792"/>
            <a:ext cx="64008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92" name="Text 16"/>
          <p:cNvSpPr/>
          <p:nvPr/>
        </p:nvSpPr>
        <p:spPr>
          <a:xfrm>
            <a:off x="438912" y="2999232"/>
            <a:ext cx="385876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Slurm Workload Manager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job scheduler for Linux cluster computing. — en.wikipedia.org</a:t>
            </a:r>
            <a:endParaRPr lang="en-US" sz="1100" dirty="0"/>
          </a:p>
        </p:txBody>
      </p:sp>
      <p:sp>
        <p:nvSpPr>
          <p:cNvPr id="1049193" name="Shape 17"/>
          <p:cNvSpPr/>
          <p:nvPr/>
        </p:nvSpPr>
        <p:spPr>
          <a:xfrm>
            <a:off x="256032" y="3858768"/>
            <a:ext cx="4114800" cy="822960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94" name="Shape 18"/>
          <p:cNvSpPr/>
          <p:nvPr/>
        </p:nvSpPr>
        <p:spPr>
          <a:xfrm>
            <a:off x="256032" y="3858768"/>
            <a:ext cx="64008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95" name="Text 19"/>
          <p:cNvSpPr/>
          <p:nvPr/>
        </p:nvSpPr>
        <p:spPr>
          <a:xfrm>
            <a:off x="438912" y="3950208"/>
            <a:ext cx="385876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Advanced Task Scheduler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Windows app for enhanced scheduling. — advscheduler.com</a:t>
            </a:r>
            <a:endParaRPr lang="en-US" sz="1100" dirty="0"/>
          </a:p>
        </p:txBody>
      </p:sp>
      <p:sp>
        <p:nvSpPr>
          <p:cNvPr id="1049196" name="Shape 20"/>
          <p:cNvSpPr/>
          <p:nvPr/>
        </p:nvSpPr>
        <p:spPr>
          <a:xfrm>
            <a:off x="4773168" y="1005840"/>
            <a:ext cx="4114800" cy="822960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97" name="Shape 21"/>
          <p:cNvSpPr/>
          <p:nvPr/>
        </p:nvSpPr>
        <p:spPr>
          <a:xfrm>
            <a:off x="4773168" y="1005840"/>
            <a:ext cx="64008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198" name="Text 22"/>
          <p:cNvSpPr/>
          <p:nvPr/>
        </p:nvSpPr>
        <p:spPr>
          <a:xfrm>
            <a:off x="4956048" y="1097280"/>
            <a:ext cx="385876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System Scheduler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Windows tool for unattended application scheduling. — splinterware.com</a:t>
            </a:r>
            <a:endParaRPr lang="en-US" sz="1100" dirty="0"/>
          </a:p>
        </p:txBody>
      </p:sp>
      <p:sp>
        <p:nvSpPr>
          <p:cNvPr id="1049199" name="Shape 23"/>
          <p:cNvSpPr/>
          <p:nvPr/>
        </p:nvSpPr>
        <p:spPr>
          <a:xfrm>
            <a:off x="4773168" y="1956816"/>
            <a:ext cx="4114800" cy="822960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00" name="Shape 24"/>
          <p:cNvSpPr/>
          <p:nvPr/>
        </p:nvSpPr>
        <p:spPr>
          <a:xfrm>
            <a:off x="4773168" y="1956816"/>
            <a:ext cx="64008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01" name="Text 25"/>
          <p:cNvSpPr/>
          <p:nvPr/>
        </p:nvSpPr>
        <p:spPr>
          <a:xfrm>
            <a:off x="4956048" y="2048256"/>
            <a:ext cx="385876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VisualCron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GUI-based Windows automation and scheduling tool. — en.wikipedia.org</a:t>
            </a:r>
            <a:endParaRPr lang="en-US" sz="1100" dirty="0"/>
          </a:p>
        </p:txBody>
      </p:sp>
      <p:sp>
        <p:nvSpPr>
          <p:cNvPr id="1049202" name="Shape 26"/>
          <p:cNvSpPr/>
          <p:nvPr/>
        </p:nvSpPr>
        <p:spPr>
          <a:xfrm>
            <a:off x="4773168" y="2907792"/>
            <a:ext cx="4114800" cy="822960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03" name="Shape 27"/>
          <p:cNvSpPr/>
          <p:nvPr/>
        </p:nvSpPr>
        <p:spPr>
          <a:xfrm>
            <a:off x="4773168" y="2907792"/>
            <a:ext cx="64008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04" name="Text 28"/>
          <p:cNvSpPr/>
          <p:nvPr/>
        </p:nvSpPr>
        <p:spPr>
          <a:xfrm>
            <a:off x="4956048" y="2999232"/>
            <a:ext cx="385876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TaskScheduler (.NET)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.NET class for custom task scheduling logic. — learn.microsoft.com</a:t>
            </a:r>
            <a:endParaRPr lang="en-US" sz="1100" dirty="0"/>
          </a:p>
        </p:txBody>
      </p:sp>
      <p:sp>
        <p:nvSpPr>
          <p:cNvPr id="1049205" name="Shape 29"/>
          <p:cNvSpPr/>
          <p:nvPr/>
        </p:nvSpPr>
        <p:spPr>
          <a:xfrm>
            <a:off x="4773168" y="3858768"/>
            <a:ext cx="4114800" cy="822960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06" name="Shape 30"/>
          <p:cNvSpPr/>
          <p:nvPr/>
        </p:nvSpPr>
        <p:spPr>
          <a:xfrm>
            <a:off x="4773168" y="3858768"/>
            <a:ext cx="64008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07" name="Text 31"/>
          <p:cNvSpPr/>
          <p:nvPr/>
        </p:nvSpPr>
        <p:spPr>
          <a:xfrm>
            <a:off x="4956048" y="3950208"/>
            <a:ext cx="385876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HTS: Hardware Scheduler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task scheduler for heterogeneous systems. — arxiv.org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1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12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13" name="Shape 2"/>
          <p:cNvSpPr/>
          <p:nvPr/>
        </p:nvSpPr>
        <p:spPr>
          <a:xfrm>
            <a:off x="0" y="109728"/>
            <a:ext cx="182880" cy="4924044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14" name="Shape 3"/>
          <p:cNvSpPr/>
          <p:nvPr/>
        </p:nvSpPr>
        <p:spPr>
          <a:xfrm>
            <a:off x="6675120" y="-640080"/>
            <a:ext cx="3657600" cy="3657600"/>
          </a:xfrm>
          <a:prstGeom prst="ellipse">
            <a:avLst/>
          </a:prstGeom>
          <a:solidFill>
            <a:srgbClr val="1A2E6B">
              <a:alpha val="55000"/>
            </a:srgbClr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15" name="Shape 4"/>
          <p:cNvSpPr/>
          <p:nvPr/>
        </p:nvSpPr>
        <p:spPr>
          <a:xfrm>
            <a:off x="7406640" y="2743200"/>
            <a:ext cx="2377440" cy="2377440"/>
          </a:xfrm>
          <a:prstGeom prst="ellipse">
            <a:avLst/>
          </a:prstGeom>
          <a:solidFill>
            <a:srgbClr val="D4A017">
              <a:alpha val="22000"/>
            </a:srgbClr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16" name="Shape 5"/>
          <p:cNvSpPr/>
          <p:nvPr/>
        </p:nvSpPr>
        <p:spPr>
          <a:xfrm>
            <a:off x="-548640" y="3291840"/>
            <a:ext cx="2011680" cy="2011680"/>
          </a:xfrm>
          <a:prstGeom prst="ellipse">
            <a:avLst/>
          </a:prstGeom>
          <a:solidFill>
            <a:srgbClr val="D4A017">
              <a:alpha val="18000"/>
            </a:srgbClr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17" name="Text 6"/>
          <p:cNvSpPr/>
          <p:nvPr/>
        </p:nvSpPr>
        <p:spPr>
          <a:xfrm>
            <a:off x="457200" y="713232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1049218" name="Shape 7"/>
          <p:cNvSpPr/>
          <p:nvPr/>
        </p:nvSpPr>
        <p:spPr>
          <a:xfrm>
            <a:off x="1828800" y="1783080"/>
            <a:ext cx="54864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19" name="Text 8"/>
          <p:cNvSpPr/>
          <p:nvPr/>
        </p:nvSpPr>
        <p:spPr>
          <a:xfrm>
            <a:off x="457200" y="1901952"/>
            <a:ext cx="8229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System  —  RTRP Review II</a:t>
            </a:r>
            <a:endParaRPr lang="en-US" sz="1500" dirty="0"/>
          </a:p>
        </p:txBody>
      </p:sp>
      <p:sp>
        <p:nvSpPr>
          <p:cNvPr id="1049220" name="Shape 9"/>
          <p:cNvSpPr/>
          <p:nvPr/>
        </p:nvSpPr>
        <p:spPr>
          <a:xfrm>
            <a:off x="1645920" y="2416302"/>
            <a:ext cx="5852160" cy="1005840"/>
          </a:xfrm>
          <a:prstGeom prst="rect">
            <a:avLst/>
          </a:prstGeom>
          <a:solidFill>
            <a:srgbClr val="122150"/>
          </a:solidFill>
          <a:ln w="19050">
            <a:solidFill>
              <a:srgbClr val="D4A017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9221" name="Text 10"/>
          <p:cNvSpPr/>
          <p:nvPr/>
        </p:nvSpPr>
        <p:spPr>
          <a:xfrm>
            <a:off x="1783080" y="2514600"/>
            <a:ext cx="557784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Link
https://github.com/raajitha7766-gif/TASK-SCHEDULER-SYSTEM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049222" name="Text 11"/>
          <p:cNvSpPr/>
          <p:nvPr/>
        </p:nvSpPr>
        <p:spPr>
          <a:xfrm>
            <a:off x="457200" y="3566160"/>
            <a:ext cx="8229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MySQL  |  Web-Based  |  SMTP Email Notifications</a:t>
            </a:r>
            <a:endParaRPr lang="en-US" sz="1300" dirty="0"/>
          </a:p>
        </p:txBody>
      </p:sp>
      <p:sp>
        <p:nvSpPr>
          <p:cNvPr id="1049223" name="Shape 12"/>
          <p:cNvSpPr/>
          <p:nvPr/>
        </p:nvSpPr>
        <p:spPr>
          <a:xfrm>
            <a:off x="548640" y="4005072"/>
            <a:ext cx="8046720" cy="877824"/>
          </a:xfrm>
          <a:prstGeom prst="rect">
            <a:avLst/>
          </a:prstGeom>
          <a:solidFill>
            <a:srgbClr val="122150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24" name="Shape 13"/>
          <p:cNvSpPr/>
          <p:nvPr/>
        </p:nvSpPr>
        <p:spPr>
          <a:xfrm>
            <a:off x="548640" y="4005072"/>
            <a:ext cx="8046720" cy="292608"/>
          </a:xfrm>
          <a:prstGeom prst="rect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9225" name="Text 14"/>
          <p:cNvSpPr/>
          <p:nvPr/>
        </p:nvSpPr>
        <p:spPr>
          <a:xfrm>
            <a:off x="640080" y="4014216"/>
            <a:ext cx="7863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049226" name="Text 15"/>
          <p:cNvSpPr/>
          <p:nvPr/>
        </p:nvSpPr>
        <p:spPr>
          <a:xfrm>
            <a:off x="640080" y="4315968"/>
            <a:ext cx="7863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VAISHNAVI (247R1A05T9)   |   P. RAAJITHA (247R1A05X8)   |   P. HEMANTH REDDY (247R1A05X5)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3333</Words>
  <Application>Microsoft Office PowerPoint</Application>
  <PresentationFormat>On-screen Show (16:9)</PresentationFormat>
  <Paragraphs>505</Paragraphs>
  <Slides>28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Scheduler System - RTRP Review II</dc:title>
  <dc:creator>PptxGenJS</dc:creator>
  <cp:lastModifiedBy>JAHNAVI PENUMUDI</cp:lastModifiedBy>
  <cp:revision>1</cp:revision>
  <dcterms:created xsi:type="dcterms:W3CDTF">2026-03-26T02:30:19Z</dcterms:created>
  <dcterms:modified xsi:type="dcterms:W3CDTF">2026-03-28T07:11:06Z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e1f7ce70fd7b43f8a190698a2338af76</vt:lpwstr>
  </property>
</Properties>
</file>